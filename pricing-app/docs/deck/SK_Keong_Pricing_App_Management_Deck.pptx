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da738de-9ae7-61b7-35e1-9a113dc7d31b}">
          <p14:sldIdLst>
            <p14:sldId id="256"/>
          </p14:sldIdLst>
        </p14:section>
        <p14:section name="Why" id="{ea112247-f6dd-6622-4c9a-d0f2af8f37f4}">
          <p14:sldIdLst>
            <p14:sldId id="257"/>
            <p14:sldId id="258"/>
            <p14:sldId id="259"/>
            <p14:sldId id="260"/>
          </p14:sldIdLst>
        </p14:section>
        <p14:section name="What" id="{7e450170-bcd0-8652-3ef5-f88059c3faa5}">
          <p14:sldIdLst>
            <p14:sldId id="261"/>
            <p14:sldId id="262"/>
            <p14:sldId id="263"/>
            <p14:sldId id="264"/>
            <p14:sldId id="265"/>
          </p14:sldIdLst>
        </p14:section>
        <p14:section name="How" id="{92cfe513-aefc-a13f-165a-40954d800a8b}">
          <p14:sldIdLst>
            <p14:sldId id="266"/>
            <p14:sldId id="267"/>
            <p14:sldId id="268"/>
            <p14:sldId id="269"/>
          </p14:sldIdLst>
        </p14:section>
        <p14:section name="Decision" id="{033e14e9-7d56-0a3d-0ad9-73e46c567311}">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Core SKUs</c:v>
                </c:pt>
              </c:strCache>
            </c:strRef>
          </c:tx>
          <c:spPr>
            <a:solidFill>
              <a:schemeClr val="accent1"/>
            </a:solidFill>
            <a:ln w="9525" cap="flat">
              <a:solidFill>
                <a:srgbClr val="F9F9F9"/>
              </a:solidFill>
              <a:prstDash val="solid"/>
              <a:round/>
            </a:ln>
            <a:effectLst/>
          </c:spPr>
          <c:dPt>
            <c:idx val="0"/>
            <c:bubble3D val="0"/>
            <c:spPr>
              <a:solidFill>
                <a:srgbClr val="0C7A5E"/>
              </a:solidFill>
              <a:effectLst/>
            </c:spPr>
          </c:dPt>
          <c:dPt>
            <c:idx val="1"/>
            <c:bubble3D val="0"/>
            <c:spPr>
              <a:solidFill>
                <a:srgbClr val="B23A3A"/>
              </a:solidFill>
              <a:effectLst/>
            </c:spPr>
          </c:dPt>
          <c:dPt>
            <c:idx val="2"/>
            <c:bubble3D val="0"/>
            <c:spPr>
              <a:solidFill>
                <a:srgbClr val="6B776F"/>
              </a:solidFill>
              <a:effectLst/>
            </c:spPr>
          </c:dPt>
          <c:dLbls>
            <c:dLbl>
              <c:idx val="0"/>
              <c:numFmt formatCode="General" sourceLinked="0"/>
              <c:spPr/>
              <c:txPr>
                <a:bodyPr/>
                <a:lstStyle/>
                <a:p>
                  <a:pPr>
                    <a:defRPr sz="1400" b="1" i="0" u="none" strike="noStrike">
                      <a:solidFill>
                        <a:srgbClr val="FFFFFF"/>
                      </a:solidFill>
                      <a:latin typeface="+mn-lt"/>
                    </a:defRPr>
                  </a:pPr>
                </a:p>
              </c:txPr>
              <c:showLegendKey val="0"/>
              <c:showVal val="1"/>
              <c:showCatName val="0"/>
              <c:showSerName val="0"/>
              <c:showPercent val="0"/>
              <c:showBubbleSize val="0"/>
            </c:dLbl>
            <c:dLbl>
              <c:idx val="1"/>
              <c:numFmt formatCode="General" sourceLinked="0"/>
              <c:spPr/>
              <c:txPr>
                <a:bodyPr/>
                <a:lstStyle/>
                <a:p>
                  <a:pPr>
                    <a:defRPr sz="1400" b="1" i="0" u="none" strike="noStrike">
                      <a:solidFill>
                        <a:srgbClr val="FFFFFF"/>
                      </a:solidFill>
                      <a:latin typeface="+mn-lt"/>
                    </a:defRPr>
                  </a:pPr>
                </a:p>
              </c:txPr>
              <c:showLegendKey val="0"/>
              <c:showVal val="1"/>
              <c:showCatName val="0"/>
              <c:showSerName val="0"/>
              <c:showPercent val="0"/>
              <c:showBubbleSize val="0"/>
            </c:dLbl>
            <c:dLbl>
              <c:idx val="2"/>
              <c:numFmt formatCode="General" sourceLinked="0"/>
              <c:spPr/>
              <c:txPr>
                <a:bodyPr/>
                <a:lstStyle/>
                <a:p>
                  <a:pPr>
                    <a:defRPr sz="1400" b="1" i="0" u="none" strike="noStrike">
                      <a:solidFill>
                        <a:srgbClr val="FFFFFF"/>
                      </a:solidFill>
                      <a:latin typeface="+mn-lt"/>
                    </a:defRPr>
                  </a:pPr>
                </a:p>
              </c:txPr>
              <c:showLegendKey val="0"/>
              <c:showVal val="1"/>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Units align (OK)</c:v>
                </c:pt>
                <c:pt idx="1">
                  <c:v>Units do not align</c:v>
                </c:pt>
                <c:pt idx="2">
                  <c:v>No purchases in FY2025</c:v>
                </c:pt>
              </c:strCache>
            </c:strRef>
          </c:cat>
          <c:val>
            <c:numRef>
              <c:f>Sheet1!$B$2:$B$4</c:f>
              <c:numCache>
                <c:ptCount val="3"/>
                <c:pt idx="0">
                  <c:v>104</c:v>
                </c:pt>
                <c:pt idx="1">
                  <c:v>73</c:v>
                </c:pt>
                <c:pt idx="2">
                  <c:v>1</c:v>
                </c:pt>
              </c:numCache>
            </c:numRef>
          </c:val>
        </c:ser>
        <c:firstSliceAng val="0"/>
        <c:holeSize val="62"/>
      </c:doughnutChart>
      <c:spPr>
        <a:noFill/>
        <a:ln>
          <a:noFill/>
        </a:ln>
        <a:effectLst/>
      </c:spPr>
    </c:plotArea>
    <c:legend>
      <c:legendPos val="b"/>
      <c:overlay val="0"/>
      <c:txPr>
        <a:bodyPr/>
        <a:lstStyle/>
        <a:p>
          <a:pPr>
            <a:defRPr sz="1200">
              <a:solidFill>
                <a:srgbClr val="16211C"/>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211C"/>
                </a:solidFill>
                <a:latin typeface="+mn-lt"/>
              </a:defRPr>
            </a:pPr>
            <a:r>
              <a:rPr sz="1300" b="0" i="0" u="none" strike="noStrike">
                <a:solidFill>
                  <a:srgbClr val="16211C"/>
                </a:solidFill>
                <a:latin typeface="+mn-lt"/>
              </a:rPr>
              <a:t>Annual value at each leakage rate</a:t>
            </a:r>
          </a:p>
        </c:rich>
      </c:tx>
      <c:layout/>
      <c:overlay val="0"/>
    </c:title>
    <c:autoTitleDeleted val="0"/>
    <c:plotArea>
      <c:layout/>
      <c:barChart>
        <c:barDir val="col"/>
        <c:grouping val="clustered"/>
        <c:varyColors val="0"/>
        <c:ser>
          <c:idx val="0"/>
          <c:order val="0"/>
          <c:tx>
            <c:strRef>
              <c:f>Sheet1!$B$1</c:f>
              <c:strCache>
                <c:ptCount val="1"/>
                <c:pt idx="0">
                  <c:v>Annual value</c:v>
                </c:pt>
              </c:strCache>
            </c:strRef>
          </c:tx>
          <c:spPr>
            <a:solidFill>
              <a:srgbClr val="C08419"/>
            </a:solidFill>
            <a:effectLst/>
          </c:spPr>
          <c:invertIfNegative val="0"/>
          <c:dLbls>
            <c:numFmt formatCode="&quot;RM&quot;0.0&quot;k&quot;" sourceLinked="0"/>
            <c:txPr>
              <a:bodyPr/>
              <a:lstStyle/>
              <a:p>
                <a:pPr>
                  <a:defRPr b="0" i="0" strike="noStrike" sz="1200" u="none">
                    <a:solidFill>
                      <a:srgbClr val="16211C"/>
                    </a:solidFill>
                    <a:latin typeface="+mn-lt"/>
                  </a:defRPr>
                </a:pPr>
              </a:p>
            </c:txPr>
            <c:showLegendKey val="0"/>
            <c:showVal val="1"/>
            <c:showCatName val="0"/>
            <c:showSerName val="0"/>
            <c:showPercent val="0"/>
            <c:showBubbleSize val="0"/>
            <c:showLeaderLines val="0"/>
          </c:dLbls>
          <c:cat>
            <c:multiLvlStrRef>
              <c:f>Sheet1!$A$2:$A$4</c:f>
              <c:multiLvlStrCache>
                <c:ptCount val="3"/>
                <c:lvl>
                  <c:pt idx="0">
                    <c:v>0.5% leakage</c:v>
                  </c:pt>
                  <c:pt idx="1">
                    <c:v>1% leakage</c:v>
                  </c:pt>
                  <c:pt idx="2">
                    <c:v>2% leakage</c:v>
                  </c:pt>
                </c:lvl>
              </c:multiLvlStrCache>
            </c:multiLvlStrRef>
          </c:cat>
          <c:val>
            <c:numRef>
              <c:f>Sheet1!$B$2:$B$4</c:f>
              <c:numCache>
                <c:formatCode>General</c:formatCode>
                <c:ptCount val="3"/>
                <c:pt idx="0">
                  <c:v>137.6</c:v>
                </c:pt>
                <c:pt idx="1">
                  <c:v>275.2</c:v>
                </c:pt>
                <c:pt idx="2">
                  <c:v>550.4</c:v>
                </c:pt>
              </c:numCache>
            </c:numRef>
          </c:val>
        </c:ser>
        <c:dLbls>
          <c:numFmt formatCode="&quot;RM&quot;0.0&quot;k&quot;" sourceLinked="0"/>
          <c:txPr>
            <a:bodyPr/>
            <a:lstStyle/>
            <a:p>
              <a:pPr>
                <a:defRPr b="0" i="0" strike="noStrike" sz="1200" u="none">
                  <a:solidFill>
                    <a:srgbClr val="16211C"/>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6211C"/>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76F"/>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percentStacked"/>
        <c:varyColors val="0"/>
        <c:ser>
          <c:idx val="0"/>
          <c:order val="0"/>
          <c:tx>
            <c:strRef>
              <c:f>Sheet1!$B$1</c:f>
              <c:strCache>
                <c:ptCount val="1"/>
                <c:pt idx="0">
                  <c:v>Branded goods</c:v>
                </c:pt>
              </c:strCache>
            </c:strRef>
          </c:tx>
          <c:spPr>
            <a:solidFill>
              <a:srgbClr val="2F5F9E"/>
            </a:solidFill>
            <a:effectLst/>
          </c:spPr>
          <c:invertIfNegative val="0"/>
          <c:dLbls>
            <c:numFmt formatCode="0&quot;%&quot;" sourceLinked="0"/>
            <c:txPr>
              <a:bodyPr/>
              <a:lstStyle/>
              <a:p>
                <a:pPr>
                  <a:defRPr b="1"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Share of sales value</c:v>
                  </c:pt>
                </c:lvl>
              </c:multiLvlStrCache>
            </c:multiLvlStrRef>
          </c:cat>
          <c:val>
            <c:numRef>
              <c:f>Sheet1!$B$2:$B$2</c:f>
              <c:numCache>
                <c:formatCode>General</c:formatCode>
                <c:ptCount val="1"/>
                <c:pt idx="0">
                  <c:v>22</c:v>
                </c:pt>
              </c:numCache>
            </c:numRef>
          </c:val>
        </c:ser>
        <c:ser>
          <c:idx val="1"/>
          <c:order val="1"/>
          <c:tx>
            <c:strRef>
              <c:f>Sheet1!$C$1</c:f>
              <c:strCache>
                <c:ptCount val="1"/>
                <c:pt idx="0">
                  <c:v>Own-brand and commodity</c:v>
                </c:pt>
              </c:strCache>
            </c:strRef>
          </c:tx>
          <c:spPr>
            <a:solidFill>
              <a:srgbClr val="0C7A5E"/>
            </a:solidFill>
            <a:effectLst/>
          </c:spPr>
          <c:invertIfNegative val="0"/>
          <c:dLbls>
            <c:numFmt formatCode="0&quot;%&quot;" sourceLinked="0"/>
            <c:txPr>
              <a:bodyPr/>
              <a:lstStyle/>
              <a:p>
                <a:pPr>
                  <a:defRPr b="1"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Share of sales value</c:v>
                  </c:pt>
                </c:lvl>
              </c:multiLvlStrCache>
            </c:multiLvlStrRef>
          </c:cat>
          <c:val>
            <c:numRef>
              <c:f>Sheet1!$C$2:$C$2</c:f>
              <c:numCache>
                <c:formatCode>General</c:formatCode>
                <c:ptCount val="1"/>
                <c:pt idx="0">
                  <c:v>78</c:v>
                </c:pt>
              </c:numCache>
            </c:numRef>
          </c:val>
        </c:ser>
        <c:dLbls>
          <c:numFmt formatCode="0&quot;%&quot;" sourceLinked="0"/>
          <c:txPr>
            <a:bodyPr/>
            <a:lstStyle/>
            <a:p>
              <a:pPr>
                <a:defRPr b="1" i="0" strike="noStrike" sz="1200" u="none">
                  <a:solidFill>
                    <a:srgbClr val="FFFFFF"/>
                  </a:solidFill>
                  <a:latin typeface="+mn-lt"/>
                </a:defRPr>
              </a:pPr>
            </a:p>
          </c:txPr>
          <c:dLblPos val="ctr"/>
          <c:showLegendKey val="0"/>
          <c:showVal val="1"/>
          <c:showCatName val="0"/>
          <c:showSerName val="0"/>
          <c:showPercent val="0"/>
          <c:showBubbleSize val="0"/>
          <c:showLeaderLines val="0"/>
        </c:dLbls>
        <c:gapWidth val="20"/>
        <c:overlap val="10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6211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76F"/>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300">
              <a:solidFill>
                <a:srgbClr val="16211C"/>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211C"/>
                </a:solidFill>
                <a:latin typeface="+mn-lt"/>
              </a:defRPr>
            </a:pPr>
            <a:r>
              <a:rPr sz="1300" b="0" i="0" u="none" strike="noStrike">
                <a:solidFill>
                  <a:srgbClr val="16211C"/>
                </a:solidFill>
                <a:latin typeface="+mn-lt"/>
              </a:rPr>
              <a:t>178 core SKUs out of 1,093</a:t>
            </a:r>
          </a:p>
        </c:rich>
      </c:tx>
      <c:layout/>
      <c:overlay val="0"/>
    </c:title>
    <c:autoTitleDeleted val="0"/>
    <c:plotArea>
      <c:layout/>
      <c:barChart>
        <c:barDir val="col"/>
        <c:grouping val="clustered"/>
        <c:varyColors val="0"/>
        <c:ser>
          <c:idx val="0"/>
          <c:order val="0"/>
          <c:tx>
            <c:strRef>
              <c:f>Sheet1!$B$1</c:f>
              <c:strCache>
                <c:ptCount val="1"/>
                <c:pt idx="0">
                  <c:v>Core SKUs</c:v>
                </c:pt>
              </c:strCache>
            </c:strRef>
          </c:tx>
          <c:spPr>
            <a:solidFill>
              <a:srgbClr val="6B776F"/>
            </a:solidFill>
            <a:effectLst/>
          </c:spPr>
          <c:invertIfNegative val="0"/>
          <c:dLbls>
            <c:numFmt formatCode="0.0&quot;%&quot;" sourceLinked="0"/>
            <c:txPr>
              <a:bodyPr/>
              <a:lstStyle/>
              <a:p>
                <a:pPr>
                  <a:defRPr b="0" i="0" strike="noStrike" sz="1200" u="none">
                    <a:solidFill>
                      <a:srgbClr val="16211C"/>
                    </a:solidFill>
                    <a:latin typeface="+mn-lt"/>
                  </a:defRPr>
                </a:pPr>
              </a:p>
            </c:txPr>
            <c:showLegendKey val="0"/>
            <c:showVal val="1"/>
            <c:showCatName val="0"/>
            <c:showSerName val="0"/>
            <c:showPercent val="0"/>
            <c:showBubbleSize val="0"/>
            <c:showLeaderLines val="0"/>
          </c:dLbls>
          <c:dPt>
            <c:idx val="0"/>
            <c:invertIfNegative val="0"/>
            <c:bubble3D val="0"/>
            <c:spPr>
              <a:solidFill>
                <a:srgbClr val="6B776F"/>
              </a:solidFill>
              <a:effectLst/>
            </c:spPr>
          </c:dPt>
          <c:dPt>
            <c:idx val="1"/>
            <c:invertIfNegative val="0"/>
            <c:bubble3D val="0"/>
            <c:spPr>
              <a:solidFill>
                <a:srgbClr val="0C7A5E"/>
              </a:solidFill>
              <a:effectLst/>
            </c:spPr>
          </c:dPt>
          <c:cat>
            <c:multiLvlStrRef>
              <c:f>Sheet1!$A$2:$A$3</c:f>
              <c:multiLvlStrCache>
                <c:ptCount val="2"/>
                <c:lvl>
                  <c:pt idx="0">
                    <c:v>Share of SKUs</c:v>
                  </c:pt>
                  <c:pt idx="1">
                    <c:v>Share of sales value</c:v>
                  </c:pt>
                </c:lvl>
              </c:multiLvlStrCache>
            </c:multiLvlStrRef>
          </c:cat>
          <c:val>
            <c:numRef>
              <c:f>Sheet1!$B$2:$B$3</c:f>
              <c:numCache>
                <c:formatCode>General</c:formatCode>
                <c:ptCount val="2"/>
                <c:pt idx="0">
                  <c:v>16.3</c:v>
                </c:pt>
                <c:pt idx="1">
                  <c:v>79.9</c:v>
                </c:pt>
              </c:numCache>
            </c:numRef>
          </c:val>
        </c:ser>
        <c:dLbls>
          <c:numFmt formatCode="0.0&quot;%&quot;" sourceLinked="0"/>
          <c:txPr>
            <a:bodyPr/>
            <a:lstStyle/>
            <a:p>
              <a:pPr>
                <a:defRPr b="0" i="0" strike="noStrike" sz="1200" u="none">
                  <a:solidFill>
                    <a:srgbClr val="16211C"/>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6211C"/>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76F"/>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One sentence: today our prices live in people's heads; this app puts the right price in every salesperson's hand and shows management where margin is really made or lost. The screenshot is the real app, running on sample data. By the end I will ask for three decisions: approve a three-week pilot, name the owners of the data, and confirm the pricing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management reads only one slide, this is it. Problem: prices are asked over the phone, there is no agreed floor, and for 73 of our 178 most important SKUs we cannot even compute margin because purchases and sales use different units. Solution: a phone app for salespeople and a desk view for owner and finance. It is already built and running on sample data. Ask: approve a three-week pilot, name the data owners, and answer twelve owner decisions on pricing rules, such as whether salespeople may ever see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pricing works today. A salesperson standing in a shop phones the office. What competitors charge is remembered, not recorded. There is no agreed floor price, so how much each person discounts is a personal judgement nobody sees. And because prices are not kept with dates, we cannot look back. At RM27.5 million a year across 771 customers and 1,093 SKUs, small inconsistencies add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for finance. Purchases are recorded per carton or bale, sales per packet. Divide value by quantity and EC22 appears to lose 2,400 percent on every packet. That is not real; it is a unit problem. 104 core SKUs look fine, 73 do not line up, and one had no purchases. Until the 73 are fixed, any margin we quote for them is fiction. The app refuses to show a margin for those SKUs until finance enters a verified cost. This is a finite job: 73 SKUs.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arithmetic, not a promise. If one percent of sales value slips away through unnecessary discounts, that is about RM275,000 a year; half a percent is about RM138,000. We do not know the real figure today, and that is the point: nothing records it. During the pilot the app records our quote, the competitor price and whether we won, so after a few weeks we will have a first measured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does two jobs from one database. On the desk, the owner and finance hold cost, target margin and the selling prices, and every change is kept with a date and a name. On the phone, salespeople see only what they are allowed to quote, see what else this customer should be buying, and record what competitors charge. The phone side works without signal. Everything is Chinese-first with English underneath.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screenshots of the real app on a phone, with sample data. One: type a code or a name and you see the list price and the floor price for this customer's tier, in large text. It works in airplane mode. Two: open a customer and the app lists products that similar shops buy from us but this one does not, with a suggested question to open the conversation. This comes from the sales analysis already done. Three: capturing a competitor price is customer, product, number, save. If there is no signal it is stored on the phone and sent when signal returns.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desk side. Left: the unit reconciliation screen, milestone one. For each SKU it shows what UBS says was bought and sold, and finance fills in the units and the verified cost. The counters at the top show progress against the core list. Right: price intelligence for one SKU. The dashed lines are our list and floor price; each dot is a competitor price a salesperson captured, coloured by whether we won, lost, or only quoted. Here our list price sits above every competitor price seen, so the app flags it. A person decides what to do; nothing changes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controls built into the system. The most important for the owner: salespeople never receive cost or margin. That is checked on the server for every response, so a clever phone cannot reveal it. If the owner later wants to change that, it is one switch. The app will not invent a margin from a cost nobody has checked. Every price is kept with its dates, every change has a name on it, the phone side works offline, and refreshing data from UBS can never wipe out what finance has entered.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 competitor prices come from? For branded goods such as Seamaster, LYG or Nestlé, about 22 percent of sales, Malaysian wholesale prices can be found online, and the app stores them with the source and date. For the other 78 percent, singlet bags, disposables, greaseproof paper, there is no public price. Searching returns supplier directories. So for most of our sales, the only way to know the market is what salespeople hear in shops. That is why the capture screen is designed to take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 narrow on purpose. 178 SKUs, about one in six, make almost 80 percent of sales value. If we try to price all 1,093 from day one, the list will not be kept up, and an out-of-date price in a salesperson's hand is worse than none. 178 can be checked and owned by finance.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software is built; what remains is SK Keong's data and decisions. Week one: logins, the owner answers the twelve decision questions, salespeople install the app and practise on sample data, and finance starts on units. Week two: verified cost for the 178 core SKUs, target margins, list and floor prices. Week three: sample data is cleared, real data goes in, and salespeople use it every day. Then we review and decide whether to roll out. Current hosting is fine for a pilot of about ten users; before the whole company relies on it, we move it to a small dedicated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measures. The first three come straight from the project brief: every core SKU has a verified cost or is marked as having no purchases, a price can be found offline in under ten seconds, and a competitor price takes three taps and a number. The last two need your input: how many captures per salesperson per week we expect, and we will measure how often quotes sit at or above the floor so we have a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risks. The biggest is adoption: if salespeople find it slower than phoning the office, they will not use it. That is why it is Chinese-first, works offline, and capture takes seconds, and the owner should look at capture counts weekly. Data quality: margins only appear once a person has verified the cost. Cost leaking to customers: the phone simply never receives it. Hosting: the current setup is right for a pilot, not for the whole company long term. And the cost work should not sit on one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decisions. One: approve the three-week pilot on the 178 core SKUs and fix the start date. Two: name owners; we propose finance for unit reconciliation and prices, the owner for tiers and rules, the clerk for user setup and UBS exports. Three: confirm that salespeople see list and floor only. Four: agree the success targets. The data-request workbook and memo are ready to send as soon as we leave this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583680" cy="18288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3840480"/>
            <a:ext cx="6583680" cy="1463040"/>
          </a:xfrm>
          <a:prstGeom prst="rect">
            <a:avLst/>
          </a:prstGeom>
          <a:noFill/>
          <a:ln/>
        </p:spPr>
        <p:txBody>
          <a:bodyPr wrap="square" rtlCol="0"/>
          <a:lstStyle>
            <a:lvl1pPr algn="l" indent="0" marL="0">
              <a:buNone/>
              <a:defRPr lang="en-US" sz="1800" dirty="0">
                <a:solidFill>
                  <a:schemeClr val="accent6"/>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ph idx="101" type="body" hasCustomPrompt="1"/>
          </p:nvPr>
        </p:nvSpPr>
        <p:spPr>
          <a:xfrm>
            <a:off x="548640" y="1024128"/>
            <a:ext cx="11094415" cy="365760"/>
          </a:xfrm>
          <a:prstGeom prst="rect">
            <a:avLst/>
          </a:prstGeom>
          <a:noFill/>
          <a:ln/>
        </p:spPr>
        <p:txBody>
          <a:bodyPr wrap="square" rtlCol="0"/>
          <a:lstStyle>
            <a:lvl1pPr algn="l" indent="0" marL="0">
              <a:buNone/>
              <a:defRPr lang="en-US" sz="1600" dirty="0">
                <a:solidFill>
                  <a:schemeClr val="accent1"/>
                </a:solidFill>
              </a:defRPr>
            </a:lvl1pPr>
          </a:lstStyle>
          <a:p>
            <a:pPr algn="l" indent="0" marL="0">
              <a:buNone/>
            </a:pPr>
            <a:endParaRPr lang="en-US" sz="1600" dirty="0"/>
          </a:p>
        </p:txBody>
      </p:sp>
      <p:sp>
        <p:nvSpPr>
          <p:cNvPr id="4"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SK Keong Trading Sdn. Bhd.  ·  Pricing app proposal  ·  October 2026</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3152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548640" y="1170432"/>
            <a:ext cx="11094415" cy="365760"/>
          </a:xfrm>
          <a:prstGeom prst="rect">
            <a:avLst/>
          </a:prstGeom>
          <a:noFill/>
          <a:ln/>
        </p:spPr>
        <p:txBody>
          <a:bodyPr wrap="square" rtlCol="0"/>
          <a:lstStyle>
            <a:lvl1pPr algn="l" indent="0" marL="0">
              <a:buNone/>
              <a:defRPr lang="en-US" sz="1600" dirty="0">
                <a:solidFill>
                  <a:schemeClr val="accent6"/>
                </a:solidFill>
              </a:defRPr>
            </a:lvl1pPr>
          </a:lstStyle>
          <a:p>
            <a:pPr algn="l" indent="0" marL="0">
              <a:buNone/>
            </a:pP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4-1.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10-1.png"/><Relationship Id="rId3" Type="http://schemas.openxmlformats.org/officeDocument/2006/relationships/image" Target="../media/image-10-2.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3.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583680" cy="1828800"/>
          </a:xfrm>
          <a:prstGeom prst="rect">
            <a:avLst/>
          </a:prstGeom>
          <a:noFill/>
          <a:ln/>
        </p:spPr>
        <p:txBody>
          <a:bodyPr wrap="square" lIns="0" tIns="0" rIns="0" bIns="0" rtlCol="0" anchor="b"/>
          <a:lstStyle/>
          <a:p>
            <a:pPr algn="l" indent="0" marL="0">
              <a:buNone/>
            </a:pPr>
            <a:r>
              <a:rPr lang="en-US" sz="4400" b="1" dirty="0">
                <a:solidFill>
                  <a:schemeClr val="bg1"/>
                </a:solidFill>
              </a:rPr>
              <a:t>Know the price.</a:t>
            </a:r>
            <a:endParaRPr lang="en-US" sz="4400" dirty="0"/>
          </a:p>
          <a:p>
            <a:pPr algn="l" indent="0" marL="0">
              <a:buNone/>
            </a:pPr>
            <a:r>
              <a:rPr lang="en-US" sz="4400" b="1" dirty="0">
                <a:solidFill>
                  <a:schemeClr val="bg1"/>
                </a:solidFill>
              </a:rPr>
              <a:t>Protect the margin.</a:t>
            </a:r>
            <a:endParaRPr lang="en-US" sz="4400" dirty="0"/>
          </a:p>
        </p:txBody>
      </p:sp>
      <p:sp>
        <p:nvSpPr>
          <p:cNvPr id="3" name="Text 0"/>
          <p:cNvSpPr/>
          <p:nvPr>
            <p:ph idx="101" type="body" hasCustomPrompt="1"/>
          </p:nvPr>
        </p:nvSpPr>
        <p:spPr>
          <a:xfrm>
            <a:off x="548640" y="3840480"/>
            <a:ext cx="6583680" cy="1463040"/>
          </a:xfrm>
          <a:prstGeom prst="rect">
            <a:avLst/>
          </a:prstGeom>
          <a:noFill/>
          <a:ln/>
        </p:spPr>
        <p:txBody>
          <a:bodyPr wrap="square" lIns="0" tIns="0" rIns="0" bIns="0" rtlCol="0" anchor="t"/>
          <a:lstStyle/>
          <a:p>
            <a:pPr algn="l" indent="0" marL="0">
              <a:buNone/>
            </a:pPr>
            <a:r>
              <a:rPr lang="en-US" sz="2200" b="1" dirty="0">
                <a:solidFill>
                  <a:schemeClr val="accent6"/>
                </a:solidFill>
              </a:rPr>
              <a:t>定价有依据，毛利有保障</a:t>
            </a:r>
            <a:endParaRPr lang="en-US" sz="1800" dirty="0"/>
          </a:p>
          <a:p>
            <a:pPr algn="l" indent="0" marL="0">
              <a:buNone/>
            </a:pPr>
            <a:r>
              <a:rPr lang="en-US" sz="1800" dirty="0">
                <a:solidFill>
                  <a:schemeClr val="bg1"/>
                </a:solidFill>
              </a:rPr>
              <a:t>A pricing and field-intelligence app for SK Keong Trading</a:t>
            </a:r>
            <a:endParaRPr lang="en-US" sz="1800" dirty="0"/>
          </a:p>
          <a:p>
            <a:pPr algn="l" indent="0" marL="0">
              <a:buNone/>
            </a:pPr>
            <a:r>
              <a:rPr lang="en-US" sz="1400" dirty="0">
                <a:solidFill>
                  <a:schemeClr val="accent6"/>
                </a:solidFill>
              </a:rPr>
              <a:t>Proposal to management  ·  October 2026</a:t>
            </a:r>
            <a:endParaRPr lang="en-US" sz="1800" dirty="0"/>
          </a:p>
        </p:txBody>
      </p:sp>
      <p:pic>
        <p:nvPicPr>
          <p:cNvPr id="4" name="Phone screenshot: price lookup" descr="/home/user/SKKROICalculator/pricing-app/docs/deck/img/sp-lookup.png">    </p:cNvPr>
          <p:cNvPicPr>
            <a:picLocks noChangeAspect="1"/>
          </p:cNvPicPr>
          <p:nvPr/>
        </p:nvPicPr>
        <p:blipFill>
          <a:blip r:embed="rId1"/>
          <a:stretch>
            <a:fillRect/>
          </a:stretch>
        </p:blipFill>
        <p:spPr>
          <a:xfrm>
            <a:off x="8458200" y="685800"/>
            <a:ext cx="3017520" cy="5029200"/>
          </a:xfrm>
          <a:prstGeom prst="rect">
            <a:avLst/>
          </a:prstGeom>
          <a:effectLst>
            <a:outerShdw sx="100000" sy="100000" kx="0" ky="0" algn="bl" rotWithShape="0" blurRad="101600" dist="38100" dir="5400000">
              <a:srgbClr val="000000">
                <a:alpha val="18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b">
            <a:normAutofit/>
          </a:bodyPr>
          <a:lstStyle/>
          <a:p>
            <a:pPr algn="l" indent="0" marL="0">
              <a:buNone/>
            </a:pPr>
            <a:r>
              <a:rPr lang="en-US" sz="3200" b="1" dirty="0">
                <a:solidFill>
                  <a:schemeClr val="tx2"/>
                </a:solidFill>
              </a:rPr>
              <a:t>The proposal on one page</a:t>
            </a:r>
            <a:endParaRPr lang="en-US" sz="3200" dirty="0"/>
          </a:p>
        </p:txBody>
      </p:sp>
      <p:sp>
        <p:nvSpPr>
          <p:cNvPr id="3" name="Text 0"/>
          <p:cNvSpPr/>
          <p:nvPr>
            <p:ph idx="101" type="body" hasCustomPrompt="1"/>
          </p:nvPr>
        </p:nvSpPr>
        <p:spPr>
          <a:xfrm>
            <a:off x="548640" y="1024128"/>
            <a:ext cx="11094415" cy="365760"/>
          </a:xfrm>
          <a:prstGeom prst="rect">
            <a:avLst/>
          </a:prstGeom>
          <a:noFill/>
          <a:ln/>
        </p:spPr>
        <p:txBody>
          <a:bodyPr wrap="square" lIns="0" tIns="0" rIns="0" bIns="0" rtlCol="0" anchor="t"/>
          <a:lstStyle/>
          <a:p>
            <a:pPr algn="l" indent="0" marL="0">
              <a:buNone/>
            </a:pPr>
            <a:r>
              <a:rPr lang="en-US" sz="1600" dirty="0">
                <a:solidFill>
                  <a:schemeClr val="accent1"/>
                </a:solidFill>
              </a:rPr>
              <a:t>一页看懂：问题、方案、需要的决定</a:t>
            </a:r>
            <a:endParaRPr lang="en-US" sz="1600" dirty="0"/>
          </a:p>
        </p:txBody>
      </p:sp>
      <p:sp>
        <p:nvSpPr>
          <p:cNvPr id="4" name="Problem 问题 card"/>
          <p:cNvSpPr/>
          <p:nvPr/>
        </p:nvSpPr>
        <p:spPr>
          <a:xfrm>
            <a:off x="548640" y="1783080"/>
            <a:ext cx="3520440" cy="3520440"/>
          </a:xfrm>
          <a:prstGeom prst="roundRect">
            <a:avLst>
              <a:gd name="adj" fmla="val 3117"/>
            </a:avLst>
          </a:prstGeom>
          <a:solidFill>
            <a:schemeClr val="bg2"/>
          </a:solidFill>
          <a:ln w="12700">
            <a:solidFill>
              <a:schemeClr val="bg2"/>
            </a:solidFill>
            <a:prstDash val="solid"/>
          </a:ln>
        </p:spPr>
      </p:sp>
      <p:sp>
        <p:nvSpPr>
          <p:cNvPr id="5" name="Problem 问题 icon circle"/>
          <p:cNvSpPr/>
          <p:nvPr/>
        </p:nvSpPr>
        <p:spPr>
          <a:xfrm>
            <a:off x="822960" y="2057400"/>
            <a:ext cx="566928" cy="566928"/>
          </a:xfrm>
          <a:prstGeom prst="ellipse">
            <a:avLst/>
          </a:prstGeom>
          <a:solidFill>
            <a:schemeClr val="accent3"/>
          </a:solidFill>
          <a:ln w="12700">
            <a:solidFill>
              <a:schemeClr val="accent3"/>
            </a:solidFill>
            <a:prstDash val="solid"/>
          </a:ln>
        </p:spPr>
      </p:sp>
      <p:pic>
        <p:nvPicPr>
          <p:cNvPr id="6" name="Problem 问题 icon" descr="preencoded.png">    </p:cNvPr>
          <p:cNvPicPr>
            <a:picLocks noChangeAspect="1"/>
          </p:cNvPicPr>
          <p:nvPr/>
        </p:nvPicPr>
        <p:blipFill>
          <a:blip r:embed="rId1"/>
          <a:stretch>
            <a:fillRect/>
          </a:stretch>
        </p:blipFill>
        <p:spPr>
          <a:xfrm>
            <a:off x="959023" y="2193463"/>
            <a:ext cx="294803" cy="294803"/>
          </a:xfrm>
          <a:prstGeom prst="rect">
            <a:avLst/>
          </a:prstGeom>
        </p:spPr>
      </p:pic>
      <p:sp>
        <p:nvSpPr>
          <p:cNvPr id="7" name="Text 4"/>
          <p:cNvSpPr txBox="1"/>
          <p:nvPr/>
        </p:nvSpPr>
        <p:spPr>
          <a:xfrm>
            <a:off x="1508760" y="2057400"/>
            <a:ext cx="2331720" cy="566928"/>
          </a:xfrm>
          <a:prstGeom prst="rect">
            <a:avLst/>
          </a:prstGeom>
          <a:noFill/>
          <a:ln/>
        </p:spPr>
        <p:txBody>
          <a:bodyPr wrap="square" lIns="0" tIns="0" rIns="0" bIns="0" rtlCol="0" anchor="ctr"/>
          <a:lstStyle/>
          <a:p>
            <a:pPr indent="0" marL="0">
              <a:buNone/>
            </a:pPr>
            <a:r>
              <a:rPr lang="en-US" sz="2000" b="1" dirty="0">
                <a:solidFill>
                  <a:schemeClr val="tx2"/>
                </a:solidFill>
              </a:rPr>
              <a:t>Problem 问题</a:t>
            </a:r>
            <a:endParaRPr lang="en-US" sz="2000" dirty="0"/>
          </a:p>
        </p:txBody>
      </p:sp>
      <p:sp>
        <p:nvSpPr>
          <p:cNvPr id="8" name="Text 5"/>
          <p:cNvSpPr txBox="1"/>
          <p:nvPr/>
        </p:nvSpPr>
        <p:spPr>
          <a:xfrm>
            <a:off x="822960" y="2834640"/>
            <a:ext cx="3017520" cy="22860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Salespeople phone the office to ask prices</a:t>
            </a:r>
            <a:endParaRPr lang="en-US" sz="1500" dirty="0"/>
          </a:p>
          <a:p>
            <a:pPr marL="342900" indent="-342900">
              <a:spcAft>
                <a:spcPts val="800"/>
              </a:spcAft>
              <a:buSzPct val="100000"/>
              <a:buChar char="•"/>
            </a:pPr>
            <a:r>
              <a:rPr lang="en-US" sz="1500" dirty="0">
                <a:solidFill>
                  <a:schemeClr val="tx1"/>
                </a:solidFill>
              </a:rPr>
              <a:t>No agreed floor price, so discounting is inconsistent and invisible</a:t>
            </a:r>
            <a:endParaRPr lang="en-US" sz="1500" dirty="0"/>
          </a:p>
          <a:p>
            <a:pPr marL="342900" indent="-342900">
              <a:spcAft>
                <a:spcPts val="800"/>
              </a:spcAft>
              <a:buSzPct val="100000"/>
              <a:buChar char="•"/>
            </a:pPr>
            <a:r>
              <a:rPr lang="en-US" sz="1500" dirty="0">
                <a:solidFill>
                  <a:schemeClr val="tx1"/>
                </a:solidFill>
              </a:rPr>
              <a:t>Margin cannot be computed for 73 of 178 core SKUs</a:t>
            </a:r>
            <a:endParaRPr lang="en-US" sz="1500" dirty="0"/>
          </a:p>
        </p:txBody>
      </p:sp>
      <p:sp>
        <p:nvSpPr>
          <p:cNvPr id="9" name="Solution 方案 card"/>
          <p:cNvSpPr/>
          <p:nvPr/>
        </p:nvSpPr>
        <p:spPr>
          <a:xfrm>
            <a:off x="4343400" y="1783080"/>
            <a:ext cx="3520440" cy="3520440"/>
          </a:xfrm>
          <a:prstGeom prst="roundRect">
            <a:avLst>
              <a:gd name="adj" fmla="val 3117"/>
            </a:avLst>
          </a:prstGeom>
          <a:solidFill>
            <a:schemeClr val="bg2"/>
          </a:solidFill>
          <a:ln w="12700">
            <a:solidFill>
              <a:schemeClr val="bg2"/>
            </a:solidFill>
            <a:prstDash val="solid"/>
          </a:ln>
        </p:spPr>
      </p:sp>
      <p:sp>
        <p:nvSpPr>
          <p:cNvPr id="10" name="Solution 方案 icon circle"/>
          <p:cNvSpPr/>
          <p:nvPr/>
        </p:nvSpPr>
        <p:spPr>
          <a:xfrm>
            <a:off x="4617720" y="2057400"/>
            <a:ext cx="566928" cy="566928"/>
          </a:xfrm>
          <a:prstGeom prst="ellipse">
            <a:avLst/>
          </a:prstGeom>
          <a:solidFill>
            <a:schemeClr val="accent1"/>
          </a:solidFill>
          <a:ln w="12700">
            <a:solidFill>
              <a:schemeClr val="accent1"/>
            </a:solidFill>
            <a:prstDash val="solid"/>
          </a:ln>
        </p:spPr>
      </p:sp>
      <p:pic>
        <p:nvPicPr>
          <p:cNvPr id="11" name="Solution 方案 icon" descr="preencoded.png">    </p:cNvPr>
          <p:cNvPicPr>
            <a:picLocks noChangeAspect="1"/>
          </p:cNvPicPr>
          <p:nvPr/>
        </p:nvPicPr>
        <p:blipFill>
          <a:blip r:embed="rId2"/>
          <a:stretch>
            <a:fillRect/>
          </a:stretch>
        </p:blipFill>
        <p:spPr>
          <a:xfrm>
            <a:off x="4753783" y="2193463"/>
            <a:ext cx="294803" cy="294803"/>
          </a:xfrm>
          <a:prstGeom prst="rect">
            <a:avLst/>
          </a:prstGeom>
        </p:spPr>
      </p:pic>
      <p:sp>
        <p:nvSpPr>
          <p:cNvPr id="12" name="Text 8"/>
          <p:cNvSpPr txBox="1"/>
          <p:nvPr/>
        </p:nvSpPr>
        <p:spPr>
          <a:xfrm>
            <a:off x="5303520" y="2057400"/>
            <a:ext cx="2331720" cy="566928"/>
          </a:xfrm>
          <a:prstGeom prst="rect">
            <a:avLst/>
          </a:prstGeom>
          <a:noFill/>
          <a:ln/>
        </p:spPr>
        <p:txBody>
          <a:bodyPr wrap="square" lIns="0" tIns="0" rIns="0" bIns="0" rtlCol="0" anchor="ctr"/>
          <a:lstStyle/>
          <a:p>
            <a:pPr indent="0" marL="0">
              <a:buNone/>
            </a:pPr>
            <a:r>
              <a:rPr lang="en-US" sz="2000" b="1" dirty="0">
                <a:solidFill>
                  <a:schemeClr val="tx2"/>
                </a:solidFill>
              </a:rPr>
              <a:t>Solution 方案</a:t>
            </a:r>
            <a:endParaRPr lang="en-US" sz="2000" dirty="0"/>
          </a:p>
        </p:txBody>
      </p:sp>
      <p:sp>
        <p:nvSpPr>
          <p:cNvPr id="13" name="Text 9"/>
          <p:cNvSpPr txBox="1"/>
          <p:nvPr/>
        </p:nvSpPr>
        <p:spPr>
          <a:xfrm>
            <a:off x="4617720" y="2834640"/>
            <a:ext cx="3017520" cy="22860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Phone app, Chinese-first, works with no signal</a:t>
            </a:r>
            <a:endParaRPr lang="en-US" sz="1500" dirty="0"/>
          </a:p>
          <a:p>
            <a:pPr marL="342900" indent="-342900">
              <a:spcAft>
                <a:spcPts val="800"/>
              </a:spcAft>
              <a:buSzPct val="100000"/>
              <a:buChar char="•"/>
            </a:pPr>
            <a:r>
              <a:rPr lang="en-US" sz="1500" dirty="0">
                <a:solidFill>
                  <a:schemeClr val="tx1"/>
                </a:solidFill>
              </a:rPr>
              <a:t>Price lookup, visit prep, competitor capture</a:t>
            </a:r>
            <a:endParaRPr lang="en-US" sz="1500" dirty="0"/>
          </a:p>
          <a:p>
            <a:pPr marL="342900" indent="-342900">
              <a:spcAft>
                <a:spcPts val="800"/>
              </a:spcAft>
              <a:buSzPct val="100000"/>
              <a:buChar char="•"/>
            </a:pPr>
            <a:r>
              <a:rPr lang="en-US" sz="1500" dirty="0">
                <a:solidFill>
                  <a:schemeClr val="tx1"/>
                </a:solidFill>
              </a:rPr>
              <a:t>Desk view for cost, margin, prices and history</a:t>
            </a:r>
            <a:endParaRPr lang="en-US" sz="1500" dirty="0"/>
          </a:p>
          <a:p>
            <a:pPr marL="342900" indent="-342900">
              <a:spcAft>
                <a:spcPts val="800"/>
              </a:spcAft>
              <a:buSzPct val="100000"/>
              <a:buChar char="•"/>
            </a:pPr>
            <a:r>
              <a:rPr lang="en-US" sz="1500" dirty="0">
                <a:solidFill>
                  <a:schemeClr val="tx1"/>
                </a:solidFill>
              </a:rPr>
              <a:t>Built and running today on sample data</a:t>
            </a:r>
            <a:endParaRPr lang="en-US" sz="1500" dirty="0"/>
          </a:p>
        </p:txBody>
      </p:sp>
      <p:sp>
        <p:nvSpPr>
          <p:cNvPr id="14" name="Ask 需要的决定 card"/>
          <p:cNvSpPr/>
          <p:nvPr/>
        </p:nvSpPr>
        <p:spPr>
          <a:xfrm>
            <a:off x="8138160" y="1783080"/>
            <a:ext cx="3520440" cy="3520440"/>
          </a:xfrm>
          <a:prstGeom prst="roundRect">
            <a:avLst>
              <a:gd name="adj" fmla="val 3117"/>
            </a:avLst>
          </a:prstGeom>
          <a:solidFill>
            <a:schemeClr val="bg2"/>
          </a:solidFill>
          <a:ln w="12700">
            <a:solidFill>
              <a:schemeClr val="bg2"/>
            </a:solidFill>
            <a:prstDash val="solid"/>
          </a:ln>
        </p:spPr>
      </p:sp>
      <p:sp>
        <p:nvSpPr>
          <p:cNvPr id="15" name="Ask 需要的决定 icon circle"/>
          <p:cNvSpPr/>
          <p:nvPr/>
        </p:nvSpPr>
        <p:spPr>
          <a:xfrm>
            <a:off x="8412480" y="2057400"/>
            <a:ext cx="566928" cy="566928"/>
          </a:xfrm>
          <a:prstGeom prst="ellipse">
            <a:avLst/>
          </a:prstGeom>
          <a:solidFill>
            <a:schemeClr val="accent2"/>
          </a:solidFill>
          <a:ln w="12700">
            <a:solidFill>
              <a:schemeClr val="accent2"/>
            </a:solidFill>
            <a:prstDash val="solid"/>
          </a:ln>
        </p:spPr>
      </p:sp>
      <p:pic>
        <p:nvPicPr>
          <p:cNvPr id="16" name="Ask 需要的决定 icon" descr="preencoded.png">    </p:cNvPr>
          <p:cNvPicPr>
            <a:picLocks noChangeAspect="1"/>
          </p:cNvPicPr>
          <p:nvPr/>
        </p:nvPicPr>
        <p:blipFill>
          <a:blip r:embed="rId3"/>
          <a:stretch>
            <a:fillRect/>
          </a:stretch>
        </p:blipFill>
        <p:spPr>
          <a:xfrm>
            <a:off x="8548543" y="2193463"/>
            <a:ext cx="294803" cy="294803"/>
          </a:xfrm>
          <a:prstGeom prst="rect">
            <a:avLst/>
          </a:prstGeom>
        </p:spPr>
      </p:pic>
      <p:sp>
        <p:nvSpPr>
          <p:cNvPr id="17" name="Text 12"/>
          <p:cNvSpPr txBox="1"/>
          <p:nvPr/>
        </p:nvSpPr>
        <p:spPr>
          <a:xfrm>
            <a:off x="9098280" y="2057400"/>
            <a:ext cx="2331720" cy="566928"/>
          </a:xfrm>
          <a:prstGeom prst="rect">
            <a:avLst/>
          </a:prstGeom>
          <a:noFill/>
          <a:ln/>
        </p:spPr>
        <p:txBody>
          <a:bodyPr wrap="square" lIns="0" tIns="0" rIns="0" bIns="0" rtlCol="0" anchor="ctr"/>
          <a:lstStyle/>
          <a:p>
            <a:pPr indent="0" marL="0">
              <a:buNone/>
            </a:pPr>
            <a:r>
              <a:rPr lang="en-US" sz="2000" b="1" dirty="0">
                <a:solidFill>
                  <a:schemeClr val="tx2"/>
                </a:solidFill>
              </a:rPr>
              <a:t>Ask 需要的决定</a:t>
            </a:r>
            <a:endParaRPr lang="en-US" sz="2000" dirty="0"/>
          </a:p>
        </p:txBody>
      </p:sp>
      <p:sp>
        <p:nvSpPr>
          <p:cNvPr id="18" name="Text 13"/>
          <p:cNvSpPr txBox="1"/>
          <p:nvPr/>
        </p:nvSpPr>
        <p:spPr>
          <a:xfrm>
            <a:off x="8412480" y="2834640"/>
            <a:ext cx="3017520" cy="22860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Approve a 3-week pilot on the 178 core SKUs</a:t>
            </a:r>
            <a:endParaRPr lang="en-US" sz="1500" dirty="0"/>
          </a:p>
          <a:p>
            <a:pPr marL="342900" indent="-342900">
              <a:spcAft>
                <a:spcPts val="800"/>
              </a:spcAft>
              <a:buSzPct val="100000"/>
              <a:buChar char="•"/>
            </a:pPr>
            <a:r>
              <a:rPr lang="en-US" sz="1500" dirty="0">
                <a:solidFill>
                  <a:schemeClr val="tx1"/>
                </a:solidFill>
              </a:rPr>
              <a:t>Name owners for cost, prices and users</a:t>
            </a:r>
            <a:endParaRPr lang="en-US" sz="1500" dirty="0"/>
          </a:p>
          <a:p>
            <a:pPr marL="342900" indent="-342900">
              <a:spcAft>
                <a:spcPts val="800"/>
              </a:spcAft>
              <a:buSzPct val="100000"/>
              <a:buChar char="•"/>
            </a:pPr>
            <a:r>
              <a:rPr lang="en-US" sz="1500" dirty="0">
                <a:solidFill>
                  <a:schemeClr val="tx1"/>
                </a:solidFill>
              </a:rPr>
              <a:t>Answer 12 owner decisions on pricing rules</a:t>
            </a:r>
            <a:endParaRPr lang="en-US" sz="1500" dirty="0"/>
          </a:p>
        </p:txBody>
      </p:sp>
      <p:sp>
        <p:nvSpPr>
          <p:cNvPr id="19" name="Source"/>
          <p:cNvSpPr txBox="1"/>
          <p:nvPr/>
        </p:nvSpPr>
        <p:spPr>
          <a:xfrm>
            <a:off x="548640" y="6053328"/>
            <a:ext cx="11094415" cy="274320"/>
          </a:xfrm>
          <a:prstGeom prst="rect">
            <a:avLst/>
          </a:prstGeom>
          <a:noFill/>
          <a:ln/>
        </p:spPr>
        <p:txBody>
          <a:bodyPr wrap="square" lIns="0" tIns="0" rIns="0" bIns="0" rtlCol="0" anchor="ctr"/>
          <a:lstStyle/>
          <a:p>
            <a:pPr indent="0" marL="0">
              <a:buNone/>
            </a:pPr>
            <a:r>
              <a:rPr lang="en-US" sz="1000" i="1" dirty="0">
                <a:solidFill>
                  <a:schemeClr val="accent5"/>
                </a:solidFill>
              </a:rPr>
              <a:t>Figures: SK Keong FY2025 sales and purchase analysis (DATA_SPEC). App status: live pilot site, sample data only.</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b">
            <a:normAutofit/>
          </a:bodyPr>
          <a:lstStyle/>
          <a:p>
            <a:pPr algn="l" indent="0" marL="0">
              <a:buNone/>
            </a:pPr>
            <a:r>
              <a:rPr lang="en-US" sz="3200" b="1" dirty="0">
                <a:solidFill>
                  <a:schemeClr val="tx2"/>
                </a:solidFill>
              </a:rPr>
              <a:t>Today, prices live on the phone and in memory</a:t>
            </a:r>
            <a:endParaRPr lang="en-US" sz="3200" dirty="0"/>
          </a:p>
        </p:txBody>
      </p:sp>
      <p:sp>
        <p:nvSpPr>
          <p:cNvPr id="3" name="Text 0"/>
          <p:cNvSpPr/>
          <p:nvPr>
            <p:ph idx="101" type="body" hasCustomPrompt="1"/>
          </p:nvPr>
        </p:nvSpPr>
        <p:spPr>
          <a:xfrm>
            <a:off x="548640" y="1024128"/>
            <a:ext cx="11094415" cy="365760"/>
          </a:xfrm>
          <a:prstGeom prst="rect">
            <a:avLst/>
          </a:prstGeom>
          <a:noFill/>
          <a:ln/>
        </p:spPr>
        <p:txBody>
          <a:bodyPr wrap="square" lIns="0" tIns="0" rIns="0" bIns="0" rtlCol="0" anchor="t"/>
          <a:lstStyle/>
          <a:p>
            <a:pPr algn="l" indent="0" marL="0">
              <a:buNone/>
            </a:pPr>
            <a:r>
              <a:rPr lang="en-US" sz="1600" dirty="0">
                <a:solidFill>
                  <a:schemeClr val="accent1"/>
                </a:solidFill>
              </a:rPr>
              <a:t>现况：价格靠电话，竞争价靠记忆</a:t>
            </a:r>
            <a:endParaRPr lang="en-US" sz="1600" dirty="0"/>
          </a:p>
        </p:txBody>
      </p:sp>
      <p:sp>
        <p:nvSpPr>
          <p:cNvPr id="4" name="Salespeople phone the office for prices circle"/>
          <p:cNvSpPr/>
          <p:nvPr/>
        </p:nvSpPr>
        <p:spPr>
          <a:xfrm>
            <a:off x="548640" y="1737360"/>
            <a:ext cx="566928" cy="566928"/>
          </a:xfrm>
          <a:prstGeom prst="ellipse">
            <a:avLst/>
          </a:prstGeom>
          <a:solidFill>
            <a:schemeClr val="accent1"/>
          </a:solidFill>
          <a:ln w="12700">
            <a:solidFill>
              <a:schemeClr val="accent1"/>
            </a:solidFill>
            <a:prstDash val="solid"/>
          </a:ln>
        </p:spPr>
      </p:sp>
      <p:pic>
        <p:nvPicPr>
          <p:cNvPr id="5" name="Salespeople phone the office for prices" descr="preencoded.png">    </p:cNvPr>
          <p:cNvPicPr>
            <a:picLocks noChangeAspect="1"/>
          </p:cNvPicPr>
          <p:nvPr/>
        </p:nvPicPr>
        <p:blipFill>
          <a:blip r:embed="rId1"/>
          <a:stretch>
            <a:fillRect/>
          </a:stretch>
        </p:blipFill>
        <p:spPr>
          <a:xfrm>
            <a:off x="684703" y="1873423"/>
            <a:ext cx="294803" cy="294803"/>
          </a:xfrm>
          <a:prstGeom prst="rect">
            <a:avLst/>
          </a:prstGeom>
        </p:spPr>
      </p:pic>
      <p:sp>
        <p:nvSpPr>
          <p:cNvPr id="6" name="Text 3"/>
          <p:cNvSpPr txBox="1"/>
          <p:nvPr/>
        </p:nvSpPr>
        <p:spPr>
          <a:xfrm>
            <a:off x="1325880" y="1691640"/>
            <a:ext cx="6035040" cy="777240"/>
          </a:xfrm>
          <a:prstGeom prst="rect">
            <a:avLst/>
          </a:prstGeom>
          <a:noFill/>
          <a:ln/>
        </p:spPr>
        <p:txBody>
          <a:bodyPr wrap="square" lIns="0" tIns="0" rIns="0" bIns="0" rtlCol="0" anchor="ctr"/>
          <a:lstStyle/>
          <a:p>
            <a:pPr indent="0" marL="0">
              <a:buNone/>
            </a:pPr>
            <a:r>
              <a:rPr lang="en-US" sz="1800" b="1" dirty="0">
                <a:solidFill>
                  <a:schemeClr val="tx2"/>
                </a:solidFill>
              </a:rPr>
              <a:t>Salespeople phone the office for prices</a:t>
            </a:r>
            <a:endParaRPr lang="en-US" sz="1800" dirty="0"/>
          </a:p>
          <a:p>
            <a:pPr indent="0" marL="0">
              <a:buNone/>
            </a:pPr>
            <a:r>
              <a:rPr lang="en-US" sz="1400" dirty="0">
                <a:solidFill>
                  <a:schemeClr val="accent5"/>
                </a:solidFill>
              </a:rPr>
              <a:t>Every quote waits on someone at the office answering.</a:t>
            </a:r>
            <a:endParaRPr lang="en-US" sz="1800" dirty="0"/>
          </a:p>
        </p:txBody>
      </p:sp>
      <p:sp>
        <p:nvSpPr>
          <p:cNvPr id="7" name="Competitor prices live in people's memories circle"/>
          <p:cNvSpPr/>
          <p:nvPr/>
        </p:nvSpPr>
        <p:spPr>
          <a:xfrm>
            <a:off x="548640" y="2761488"/>
            <a:ext cx="566928" cy="566928"/>
          </a:xfrm>
          <a:prstGeom prst="ellipse">
            <a:avLst/>
          </a:prstGeom>
          <a:solidFill>
            <a:schemeClr val="accent1"/>
          </a:solidFill>
          <a:ln w="12700">
            <a:solidFill>
              <a:schemeClr val="accent1"/>
            </a:solidFill>
            <a:prstDash val="solid"/>
          </a:ln>
        </p:spPr>
      </p:sp>
      <p:pic>
        <p:nvPicPr>
          <p:cNvPr id="8" name="Competitor prices live in people's memories" descr="preencoded.png">    </p:cNvPr>
          <p:cNvPicPr>
            <a:picLocks noChangeAspect="1"/>
          </p:cNvPicPr>
          <p:nvPr/>
        </p:nvPicPr>
        <p:blipFill>
          <a:blip r:embed="rId2"/>
          <a:stretch>
            <a:fillRect/>
          </a:stretch>
        </p:blipFill>
        <p:spPr>
          <a:xfrm>
            <a:off x="684703" y="2897551"/>
            <a:ext cx="294803" cy="294803"/>
          </a:xfrm>
          <a:prstGeom prst="rect">
            <a:avLst/>
          </a:prstGeom>
        </p:spPr>
      </p:pic>
      <p:sp>
        <p:nvSpPr>
          <p:cNvPr id="9" name="Text 5"/>
          <p:cNvSpPr txBox="1"/>
          <p:nvPr/>
        </p:nvSpPr>
        <p:spPr>
          <a:xfrm>
            <a:off x="1325880" y="2715768"/>
            <a:ext cx="6035040" cy="777240"/>
          </a:xfrm>
          <a:prstGeom prst="rect">
            <a:avLst/>
          </a:prstGeom>
          <a:noFill/>
          <a:ln/>
        </p:spPr>
        <p:txBody>
          <a:bodyPr wrap="square" lIns="0" tIns="0" rIns="0" bIns="0" rtlCol="0" anchor="ctr"/>
          <a:lstStyle/>
          <a:p>
            <a:pPr indent="0" marL="0">
              <a:buNone/>
            </a:pPr>
            <a:r>
              <a:rPr lang="en-US" sz="1800" b="1" dirty="0">
                <a:solidFill>
                  <a:schemeClr val="tx2"/>
                </a:solidFill>
              </a:rPr>
              <a:t>Competitor prices live in people's memories</a:t>
            </a:r>
            <a:endParaRPr lang="en-US" sz="1800" dirty="0"/>
          </a:p>
          <a:p>
            <a:pPr indent="0" marL="0">
              <a:buNone/>
            </a:pPr>
            <a:r>
              <a:rPr lang="en-US" sz="1400" dirty="0">
                <a:solidFill>
                  <a:schemeClr val="accent5"/>
                </a:solidFill>
              </a:rPr>
              <a:t>Nothing is recorded, so we cannot see where we are losing.</a:t>
            </a:r>
            <a:endParaRPr lang="en-US" sz="1800" dirty="0"/>
          </a:p>
        </p:txBody>
      </p:sp>
      <p:sp>
        <p:nvSpPr>
          <p:cNvPr id="10" name="No agreed floor price circle"/>
          <p:cNvSpPr/>
          <p:nvPr/>
        </p:nvSpPr>
        <p:spPr>
          <a:xfrm>
            <a:off x="548640" y="3785616"/>
            <a:ext cx="566928" cy="566928"/>
          </a:xfrm>
          <a:prstGeom prst="ellipse">
            <a:avLst/>
          </a:prstGeom>
          <a:solidFill>
            <a:schemeClr val="accent1"/>
          </a:solidFill>
          <a:ln w="12700">
            <a:solidFill>
              <a:schemeClr val="accent1"/>
            </a:solidFill>
            <a:prstDash val="solid"/>
          </a:ln>
        </p:spPr>
      </p:sp>
      <p:pic>
        <p:nvPicPr>
          <p:cNvPr id="11" name="No agreed floor price" descr="preencoded.png">    </p:cNvPr>
          <p:cNvPicPr>
            <a:picLocks noChangeAspect="1"/>
          </p:cNvPicPr>
          <p:nvPr/>
        </p:nvPicPr>
        <p:blipFill>
          <a:blip r:embed="rId3"/>
          <a:stretch>
            <a:fillRect/>
          </a:stretch>
        </p:blipFill>
        <p:spPr>
          <a:xfrm>
            <a:off x="684703" y="3921679"/>
            <a:ext cx="294803" cy="294803"/>
          </a:xfrm>
          <a:prstGeom prst="rect">
            <a:avLst/>
          </a:prstGeom>
        </p:spPr>
      </p:pic>
      <p:sp>
        <p:nvSpPr>
          <p:cNvPr id="12" name="Text 7"/>
          <p:cNvSpPr txBox="1"/>
          <p:nvPr/>
        </p:nvSpPr>
        <p:spPr>
          <a:xfrm>
            <a:off x="1325880" y="3739896"/>
            <a:ext cx="6035040" cy="777240"/>
          </a:xfrm>
          <a:prstGeom prst="rect">
            <a:avLst/>
          </a:prstGeom>
          <a:noFill/>
          <a:ln/>
        </p:spPr>
        <p:txBody>
          <a:bodyPr wrap="square" lIns="0" tIns="0" rIns="0" bIns="0" rtlCol="0" anchor="ctr"/>
          <a:lstStyle/>
          <a:p>
            <a:pPr indent="0" marL="0">
              <a:buNone/>
            </a:pPr>
            <a:r>
              <a:rPr lang="en-US" sz="1800" b="1" dirty="0">
                <a:solidFill>
                  <a:schemeClr val="tx2"/>
                </a:solidFill>
              </a:rPr>
              <a:t>No agreed floor price</a:t>
            </a:r>
            <a:endParaRPr lang="en-US" sz="1800" dirty="0"/>
          </a:p>
          <a:p>
            <a:pPr indent="0" marL="0">
              <a:buNone/>
            </a:pPr>
            <a:r>
              <a:rPr lang="en-US" sz="1400" dirty="0">
                <a:solidFill>
                  <a:schemeClr val="accent5"/>
                </a:solidFill>
              </a:rPr>
              <a:t>Each salesperson decides how far to discount, and nobody sees it.</a:t>
            </a:r>
            <a:endParaRPr lang="en-US" sz="1800" dirty="0"/>
          </a:p>
        </p:txBody>
      </p:sp>
      <p:sp>
        <p:nvSpPr>
          <p:cNvPr id="13" name="No price history circle"/>
          <p:cNvSpPr/>
          <p:nvPr/>
        </p:nvSpPr>
        <p:spPr>
          <a:xfrm>
            <a:off x="548640" y="4809744"/>
            <a:ext cx="566928" cy="566928"/>
          </a:xfrm>
          <a:prstGeom prst="ellipse">
            <a:avLst/>
          </a:prstGeom>
          <a:solidFill>
            <a:schemeClr val="accent1"/>
          </a:solidFill>
          <a:ln w="12700">
            <a:solidFill>
              <a:schemeClr val="accent1"/>
            </a:solidFill>
            <a:prstDash val="solid"/>
          </a:ln>
        </p:spPr>
      </p:sp>
      <p:pic>
        <p:nvPicPr>
          <p:cNvPr id="14" name="No price history" descr="preencoded.png">    </p:cNvPr>
          <p:cNvPicPr>
            <a:picLocks noChangeAspect="1"/>
          </p:cNvPicPr>
          <p:nvPr/>
        </p:nvPicPr>
        <p:blipFill>
          <a:blip r:embed="rId4"/>
          <a:stretch>
            <a:fillRect/>
          </a:stretch>
        </p:blipFill>
        <p:spPr>
          <a:xfrm>
            <a:off x="684703" y="4945807"/>
            <a:ext cx="294803" cy="294803"/>
          </a:xfrm>
          <a:prstGeom prst="rect">
            <a:avLst/>
          </a:prstGeom>
        </p:spPr>
      </p:pic>
      <p:sp>
        <p:nvSpPr>
          <p:cNvPr id="15" name="Text 9"/>
          <p:cNvSpPr txBox="1"/>
          <p:nvPr/>
        </p:nvSpPr>
        <p:spPr>
          <a:xfrm>
            <a:off x="1325880" y="4764024"/>
            <a:ext cx="6035040" cy="777240"/>
          </a:xfrm>
          <a:prstGeom prst="rect">
            <a:avLst/>
          </a:prstGeom>
          <a:noFill/>
          <a:ln/>
        </p:spPr>
        <p:txBody>
          <a:bodyPr wrap="square" lIns="0" tIns="0" rIns="0" bIns="0" rtlCol="0" anchor="ctr"/>
          <a:lstStyle/>
          <a:p>
            <a:pPr indent="0" marL="0">
              <a:buNone/>
            </a:pPr>
            <a:r>
              <a:rPr lang="en-US" sz="1800" b="1" dirty="0">
                <a:solidFill>
                  <a:schemeClr val="tx2"/>
                </a:solidFill>
              </a:rPr>
              <a:t>No price history</a:t>
            </a:r>
            <a:endParaRPr lang="en-US" sz="1800" dirty="0"/>
          </a:p>
          <a:p>
            <a:pPr indent="0" marL="0">
              <a:buNone/>
            </a:pPr>
            <a:r>
              <a:rPr lang="en-US" sz="1400" dirty="0">
                <a:solidFill>
                  <a:schemeClr val="accent5"/>
                </a:solidFill>
              </a:rPr>
              <a:t>"What were we charging in March?" cannot be answered.</a:t>
            </a:r>
            <a:endParaRPr lang="en-US" sz="1800" dirty="0"/>
          </a:p>
        </p:txBody>
      </p:sp>
      <p:sp>
        <p:nvSpPr>
          <p:cNvPr id="16" name="Scale panel"/>
          <p:cNvSpPr/>
          <p:nvPr/>
        </p:nvSpPr>
        <p:spPr>
          <a:xfrm>
            <a:off x="7818120" y="1737360"/>
            <a:ext cx="3824935" cy="4069080"/>
          </a:xfrm>
          <a:prstGeom prst="roundRect">
            <a:avLst>
              <a:gd name="adj" fmla="val 2869"/>
            </a:avLst>
          </a:prstGeom>
          <a:solidFill>
            <a:schemeClr val="tx2"/>
          </a:solidFill>
          <a:ln w="12700">
            <a:solidFill>
              <a:schemeClr val="tx2"/>
            </a:solidFill>
            <a:prstDash val="solid"/>
          </a:ln>
        </p:spPr>
      </p:sp>
      <p:sp>
        <p:nvSpPr>
          <p:cNvPr id="17" name="Text 11"/>
          <p:cNvSpPr txBox="1"/>
          <p:nvPr/>
        </p:nvSpPr>
        <p:spPr>
          <a:xfrm>
            <a:off x="8138160" y="1920240"/>
            <a:ext cx="3184855" cy="365760"/>
          </a:xfrm>
          <a:prstGeom prst="rect">
            <a:avLst/>
          </a:prstGeom>
          <a:noFill/>
          <a:ln/>
        </p:spPr>
        <p:txBody>
          <a:bodyPr wrap="square" lIns="0" tIns="0" rIns="0" bIns="0" rtlCol="0" anchor="ctr"/>
          <a:lstStyle/>
          <a:p>
            <a:pPr indent="0" marL="0">
              <a:buNone/>
            </a:pPr>
            <a:r>
              <a:rPr lang="en-US" sz="1400" dirty="0">
                <a:solidFill>
                  <a:schemeClr val="accent6"/>
                </a:solidFill>
              </a:rPr>
              <a:t>The business this has to serve</a:t>
            </a:r>
            <a:endParaRPr lang="en-US" sz="1400" dirty="0"/>
          </a:p>
        </p:txBody>
      </p:sp>
      <p:sp>
        <p:nvSpPr>
          <p:cNvPr id="18" name="Text 12"/>
          <p:cNvSpPr txBox="1"/>
          <p:nvPr/>
        </p:nvSpPr>
        <p:spPr>
          <a:xfrm>
            <a:off x="8138160" y="2423160"/>
            <a:ext cx="2011680" cy="685800"/>
          </a:xfrm>
          <a:prstGeom prst="rect">
            <a:avLst/>
          </a:prstGeom>
          <a:noFill/>
          <a:ln/>
        </p:spPr>
        <p:txBody>
          <a:bodyPr wrap="square" lIns="0" tIns="0" rIns="0" bIns="0" rtlCol="0" anchor="ctr"/>
          <a:lstStyle/>
          <a:p>
            <a:pPr indent="0" marL="0">
              <a:buNone/>
            </a:pPr>
            <a:r>
              <a:rPr lang="en-US" sz="3200" b="1" dirty="0">
                <a:solidFill>
                  <a:schemeClr val="bg1"/>
                </a:solidFill>
                <a:latin typeface="Cambria" pitchFamily="34" charset="0"/>
                <a:ea typeface="Cambria" pitchFamily="34" charset="-122"/>
                <a:cs typeface="Cambria" pitchFamily="34" charset="-120"/>
              </a:rPr>
              <a:t>RM27.5m</a:t>
            </a:r>
            <a:endParaRPr lang="en-US" sz="3200" dirty="0"/>
          </a:p>
        </p:txBody>
      </p:sp>
      <p:sp>
        <p:nvSpPr>
          <p:cNvPr id="19" name="Text 13"/>
          <p:cNvSpPr txBox="1"/>
          <p:nvPr/>
        </p:nvSpPr>
        <p:spPr>
          <a:xfrm>
            <a:off x="10195560" y="2423160"/>
            <a:ext cx="1173175" cy="685800"/>
          </a:xfrm>
          <a:prstGeom prst="rect">
            <a:avLst/>
          </a:prstGeom>
          <a:noFill/>
          <a:ln/>
        </p:spPr>
        <p:txBody>
          <a:bodyPr wrap="square" lIns="0" tIns="0" rIns="0" bIns="0" rtlCol="0" anchor="ctr"/>
          <a:lstStyle/>
          <a:p>
            <a:pPr indent="0" marL="0">
              <a:buNone/>
            </a:pPr>
            <a:r>
              <a:rPr lang="en-US" sz="1500" dirty="0">
                <a:solidFill>
                  <a:schemeClr val="accent6"/>
                </a:solidFill>
              </a:rPr>
              <a:t>annual sales value</a:t>
            </a:r>
            <a:endParaRPr lang="en-US" sz="1500" dirty="0"/>
          </a:p>
        </p:txBody>
      </p:sp>
      <p:sp>
        <p:nvSpPr>
          <p:cNvPr id="20" name="Text 14"/>
          <p:cNvSpPr txBox="1"/>
          <p:nvPr/>
        </p:nvSpPr>
        <p:spPr>
          <a:xfrm>
            <a:off x="8138160" y="3227832"/>
            <a:ext cx="2011680" cy="685800"/>
          </a:xfrm>
          <a:prstGeom prst="rect">
            <a:avLst/>
          </a:prstGeom>
          <a:noFill/>
          <a:ln/>
        </p:spPr>
        <p:txBody>
          <a:bodyPr wrap="square" lIns="0" tIns="0" rIns="0" bIns="0" rtlCol="0" anchor="ctr"/>
          <a:lstStyle/>
          <a:p>
            <a:pPr indent="0" marL="0">
              <a:buNone/>
            </a:pPr>
            <a:r>
              <a:rPr lang="en-US" sz="3200" b="1" dirty="0">
                <a:solidFill>
                  <a:schemeClr val="bg1"/>
                </a:solidFill>
                <a:latin typeface="Cambria" pitchFamily="34" charset="0"/>
                <a:ea typeface="Cambria" pitchFamily="34" charset="-122"/>
                <a:cs typeface="Cambria" pitchFamily="34" charset="-120"/>
              </a:rPr>
              <a:t>771</a:t>
            </a:r>
            <a:endParaRPr lang="en-US" sz="3200" dirty="0"/>
          </a:p>
        </p:txBody>
      </p:sp>
      <p:sp>
        <p:nvSpPr>
          <p:cNvPr id="21" name="Text 15"/>
          <p:cNvSpPr txBox="1"/>
          <p:nvPr/>
        </p:nvSpPr>
        <p:spPr>
          <a:xfrm>
            <a:off x="10195560" y="3227832"/>
            <a:ext cx="1173175" cy="685800"/>
          </a:xfrm>
          <a:prstGeom prst="rect">
            <a:avLst/>
          </a:prstGeom>
          <a:noFill/>
          <a:ln/>
        </p:spPr>
        <p:txBody>
          <a:bodyPr wrap="square" lIns="0" tIns="0" rIns="0" bIns="0" rtlCol="0" anchor="ctr"/>
          <a:lstStyle/>
          <a:p>
            <a:pPr indent="0" marL="0">
              <a:buNone/>
            </a:pPr>
            <a:r>
              <a:rPr lang="en-US" sz="1500" dirty="0">
                <a:solidFill>
                  <a:schemeClr val="accent6"/>
                </a:solidFill>
              </a:rPr>
              <a:t>active customers</a:t>
            </a:r>
            <a:endParaRPr lang="en-US" sz="1500" dirty="0"/>
          </a:p>
        </p:txBody>
      </p:sp>
      <p:sp>
        <p:nvSpPr>
          <p:cNvPr id="22" name="Text 16"/>
          <p:cNvSpPr txBox="1"/>
          <p:nvPr/>
        </p:nvSpPr>
        <p:spPr>
          <a:xfrm>
            <a:off x="8138160" y="4032504"/>
            <a:ext cx="2011680" cy="685800"/>
          </a:xfrm>
          <a:prstGeom prst="rect">
            <a:avLst/>
          </a:prstGeom>
          <a:noFill/>
          <a:ln/>
        </p:spPr>
        <p:txBody>
          <a:bodyPr wrap="square" lIns="0" tIns="0" rIns="0" bIns="0" rtlCol="0" anchor="ctr"/>
          <a:lstStyle/>
          <a:p>
            <a:pPr indent="0" marL="0">
              <a:buNone/>
            </a:pPr>
            <a:r>
              <a:rPr lang="en-US" sz="3200" b="1" dirty="0">
                <a:solidFill>
                  <a:schemeClr val="bg1"/>
                </a:solidFill>
                <a:latin typeface="Cambria" pitchFamily="34" charset="0"/>
                <a:ea typeface="Cambria" pitchFamily="34" charset="-122"/>
                <a:cs typeface="Cambria" pitchFamily="34" charset="-120"/>
              </a:rPr>
              <a:t>1,093</a:t>
            </a:r>
            <a:endParaRPr lang="en-US" sz="3200" dirty="0"/>
          </a:p>
        </p:txBody>
      </p:sp>
      <p:sp>
        <p:nvSpPr>
          <p:cNvPr id="23" name="Text 17"/>
          <p:cNvSpPr txBox="1"/>
          <p:nvPr/>
        </p:nvSpPr>
        <p:spPr>
          <a:xfrm>
            <a:off x="10195560" y="4032504"/>
            <a:ext cx="1173175" cy="685800"/>
          </a:xfrm>
          <a:prstGeom prst="rect">
            <a:avLst/>
          </a:prstGeom>
          <a:noFill/>
          <a:ln/>
        </p:spPr>
        <p:txBody>
          <a:bodyPr wrap="square" lIns="0" tIns="0" rIns="0" bIns="0" rtlCol="0" anchor="ctr"/>
          <a:lstStyle/>
          <a:p>
            <a:pPr indent="0" marL="0">
              <a:buNone/>
            </a:pPr>
            <a:r>
              <a:rPr lang="en-US" sz="1500" dirty="0">
                <a:solidFill>
                  <a:schemeClr val="accent6"/>
                </a:solidFill>
              </a:rPr>
              <a:t>SKUs</a:t>
            </a:r>
            <a:endParaRPr lang="en-US" sz="1500" dirty="0"/>
          </a:p>
        </p:txBody>
      </p:sp>
      <p:sp>
        <p:nvSpPr>
          <p:cNvPr id="24" name="Text 18"/>
          <p:cNvSpPr txBox="1"/>
          <p:nvPr/>
        </p:nvSpPr>
        <p:spPr>
          <a:xfrm>
            <a:off x="8138160" y="4837176"/>
            <a:ext cx="2011680" cy="685800"/>
          </a:xfrm>
          <a:prstGeom prst="rect">
            <a:avLst/>
          </a:prstGeom>
          <a:noFill/>
          <a:ln/>
        </p:spPr>
        <p:txBody>
          <a:bodyPr wrap="square" lIns="0" tIns="0" rIns="0" bIns="0" rtlCol="0" anchor="ctr"/>
          <a:lstStyle/>
          <a:p>
            <a:pPr indent="0" marL="0">
              <a:buNone/>
            </a:pPr>
            <a:r>
              <a:rPr lang="en-US" sz="3200" b="1" dirty="0">
                <a:solidFill>
                  <a:schemeClr val="bg1"/>
                </a:solidFill>
                <a:latin typeface="Cambria" pitchFamily="34" charset="0"/>
                <a:ea typeface="Cambria" pitchFamily="34" charset="-122"/>
                <a:cs typeface="Cambria" pitchFamily="34" charset="-120"/>
              </a:rPr>
              <a:t>7</a:t>
            </a:r>
            <a:endParaRPr lang="en-US" sz="3200" dirty="0"/>
          </a:p>
        </p:txBody>
      </p:sp>
      <p:sp>
        <p:nvSpPr>
          <p:cNvPr id="25" name="Text 19"/>
          <p:cNvSpPr txBox="1"/>
          <p:nvPr/>
        </p:nvSpPr>
        <p:spPr>
          <a:xfrm>
            <a:off x="10195560" y="4837176"/>
            <a:ext cx="1173175" cy="685800"/>
          </a:xfrm>
          <a:prstGeom prst="rect">
            <a:avLst/>
          </a:prstGeom>
          <a:noFill/>
          <a:ln/>
        </p:spPr>
        <p:txBody>
          <a:bodyPr wrap="square" lIns="0" tIns="0" rIns="0" bIns="0" rtlCol="0" anchor="ctr"/>
          <a:lstStyle/>
          <a:p>
            <a:pPr indent="0" marL="0">
              <a:buNone/>
            </a:pPr>
            <a:r>
              <a:rPr lang="en-US" sz="1500" dirty="0">
                <a:solidFill>
                  <a:schemeClr val="accent6"/>
                </a:solidFill>
              </a:rPr>
              <a:t>salespeople</a:t>
            </a:r>
            <a:endParaRPr lang="en-US" sz="1500" dirty="0"/>
          </a:p>
        </p:txBody>
      </p:sp>
      <p:sp>
        <p:nvSpPr>
          <p:cNvPr id="26" name="Source"/>
          <p:cNvSpPr txBox="1"/>
          <p:nvPr/>
        </p:nvSpPr>
        <p:spPr>
          <a:xfrm>
            <a:off x="548640" y="6053328"/>
            <a:ext cx="11094415" cy="274320"/>
          </a:xfrm>
          <a:prstGeom prst="rect">
            <a:avLst/>
          </a:prstGeom>
          <a:noFill/>
          <a:ln/>
        </p:spPr>
        <p:txBody>
          <a:bodyPr wrap="square" lIns="0" tIns="0" rIns="0" bIns="0" rtlCol="0" anchor="ctr"/>
          <a:lstStyle/>
          <a:p>
            <a:pPr indent="0" marL="0">
              <a:buNone/>
            </a:pPr>
            <a:r>
              <a:rPr lang="en-US" sz="1000" i="1" dirty="0">
                <a:solidFill>
                  <a:schemeClr val="accent5"/>
                </a:solidFill>
              </a:rPr>
              <a:t>Source: SK Keong company profile and FY2025 UBS data, as summarised in the project brief (DATA_SPEC).</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b">
            <a:normAutofit/>
          </a:bodyPr>
          <a:lstStyle/>
          <a:p>
            <a:pPr algn="l" indent="0" marL="0">
              <a:buNone/>
            </a:pPr>
            <a:r>
              <a:rPr lang="en-US" sz="3200" b="1" dirty="0">
                <a:solidFill>
                  <a:schemeClr val="tx2"/>
                </a:solidFill>
              </a:rPr>
              <a:t>41% of core SKUs have no trustworthy margin yet</a:t>
            </a:r>
            <a:endParaRPr lang="en-US" sz="3200" dirty="0"/>
          </a:p>
        </p:txBody>
      </p:sp>
      <p:sp>
        <p:nvSpPr>
          <p:cNvPr id="3" name="Text 0"/>
          <p:cNvSpPr/>
          <p:nvPr>
            <p:ph idx="101" type="body" hasCustomPrompt="1"/>
          </p:nvPr>
        </p:nvSpPr>
        <p:spPr>
          <a:xfrm>
            <a:off x="548640" y="1024128"/>
            <a:ext cx="11094415" cy="365760"/>
          </a:xfrm>
          <a:prstGeom prst="rect">
            <a:avLst/>
          </a:prstGeom>
          <a:noFill/>
          <a:ln/>
        </p:spPr>
        <p:txBody>
          <a:bodyPr wrap="square" lIns="0" tIns="0" rIns="0" bIns="0" rtlCol="0" anchor="t"/>
          <a:lstStyle/>
          <a:p>
            <a:pPr algn="l" indent="0" marL="0">
              <a:buNone/>
            </a:pPr>
            <a:r>
              <a:rPr lang="en-US" sz="1600" dirty="0">
                <a:solidFill>
                  <a:schemeClr val="accent1"/>
                </a:solidFill>
              </a:rPr>
              <a:t>数据问题：采购与销售单位不一致，算不出真实毛利</a:t>
            </a:r>
            <a:endParaRPr lang="en-US" sz="1600" dirty="0"/>
          </a:p>
        </p:txBody>
      </p:sp>
      <p:graphicFrame>
        <p:nvGraphicFramePr>
          <p:cNvPr id="4" name="Core SKUs by cost data quality" descr=""/>
          <p:cNvGraphicFramePr/>
          <p:nvPr/>
        </p:nvGraphicFramePr>
        <p:xfrm>
          <a:off x="548640" y="1600200"/>
          <a:ext cx="4206240" cy="42062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1965960" y="2788920"/>
            <a:ext cx="1371600" cy="914400"/>
          </a:xfrm>
          <a:prstGeom prst="rect">
            <a:avLst/>
          </a:prstGeom>
          <a:noFill/>
          <a:ln/>
        </p:spPr>
        <p:txBody>
          <a:bodyPr wrap="square" lIns="0" tIns="0" rIns="0" bIns="0" rtlCol="0" anchor="ctr"/>
          <a:lstStyle/>
          <a:p>
            <a:pPr algn="ctr" indent="0" marL="0">
              <a:buNone/>
            </a:pPr>
            <a:r>
              <a:rPr lang="en-US" sz="3200" b="1" dirty="0">
                <a:solidFill>
                  <a:schemeClr val="tx2"/>
                </a:solidFill>
                <a:latin typeface="Cambria" pitchFamily="34" charset="0"/>
                <a:ea typeface="Cambria" pitchFamily="34" charset="-122"/>
                <a:cs typeface="Cambria" pitchFamily="34" charset="-120"/>
              </a:rPr>
              <a:t>178</a:t>
            </a:r>
            <a:endParaRPr lang="en-US" sz="3200" dirty="0"/>
          </a:p>
          <a:p>
            <a:pPr algn="ctr" indent="0" marL="0">
              <a:buNone/>
            </a:pPr>
            <a:r>
              <a:rPr lang="en-US" sz="1300" dirty="0">
                <a:solidFill>
                  <a:schemeClr val="accent5"/>
                </a:solidFill>
              </a:rPr>
              <a:t>core SKUs</a:t>
            </a:r>
            <a:endParaRPr lang="en-US" sz="3200" dirty="0"/>
          </a:p>
        </p:txBody>
      </p:sp>
      <p:sp>
        <p:nvSpPr>
          <p:cNvPr id="6" name="Text 3"/>
          <p:cNvSpPr txBox="1"/>
          <p:nvPr/>
        </p:nvSpPr>
        <p:spPr>
          <a:xfrm>
            <a:off x="5212080" y="1645920"/>
            <a:ext cx="6430975" cy="640080"/>
          </a:xfrm>
          <a:prstGeom prst="rect">
            <a:avLst/>
          </a:prstGeom>
          <a:noFill/>
          <a:ln/>
        </p:spPr>
        <p:txBody>
          <a:bodyPr wrap="square" lIns="0" tIns="0" rIns="0" bIns="0" rtlCol="0" anchor="ctr"/>
          <a:lstStyle/>
          <a:p>
            <a:pPr indent="0" marL="0">
              <a:buNone/>
            </a:pPr>
            <a:r>
              <a:rPr lang="en-US" sz="1500" dirty="0">
                <a:solidFill>
                  <a:schemeClr val="tx1"/>
                </a:solidFill>
              </a:rPr>
              <a:t>Purchases are booked in cartons or bales; sales in packets or pieces. Dividing value by quantity gives nonsense:</a:t>
            </a:r>
            <a:endParaRPr lang="en-US" sz="1500" dirty="0"/>
          </a:p>
        </p:txBody>
      </p:sp>
      <p:graphicFrame>
        <p:nvGraphicFramePr>
          <p:cNvPr id="5" name="Unit mismatch examples"/>
          <p:cNvGraphicFramePr>
            <a:graphicFrameLocks noGrp="1"/>
          </p:cNvGraphicFramePr>
          <p:nvPr>
            <p:extLst>
              <p:ext uri="{D42A27DB-BD31-4B8C-83A1-F6EECF244321}">
                <p14:modId xmlns:p14="http://schemas.microsoft.com/office/powerpoint/2010/main" val="1579011935"/>
              </p:ext>
            </p:extLst>
          </p:nvPr>
        </p:nvGraphicFramePr>
        <p:xfrm>
          <a:off x="5212080" y="2377440"/>
          <a:ext cx="6430975" cy="914400"/>
        </p:xfrm>
        <a:graphic>
          <a:graphicData uri="http://schemas.openxmlformats.org/drawingml/2006/table">
            <a:tbl>
              <a:tblPr/>
              <a:tblGrid>
                <a:gridCol w="2514600"/>
                <a:gridCol w="1280160"/>
                <a:gridCol w="1280160"/>
                <a:gridCol w="1353312"/>
              </a:tblGrid>
              <a:tr h="384048">
                <a:tc>
                  <a:txBody>
                    <a:bodyPr/>
                    <a:lstStyle/>
                    <a:p>
                      <a:pPr indent="0" marL="0">
                        <a:buNone/>
                      </a:pPr>
                      <a:r>
                        <a:rPr lang="en-US" sz="1300" b="1" dirty="0">
                          <a:solidFill>
                            <a:srgbClr val="FFFFFF"/>
                          </a:solidFill>
                        </a:rPr>
                        <a:t>SKU</a:t>
                      </a:r>
                      <a:endParaRPr lang="en-US" sz="1300" dirty="0"/>
                    </a:p>
                  </a:txBody>
                  <a:tcPr marL="73152" marR="73152" marT="73152" marB="73152"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0B3D2E"/>
                    </a:solidFill>
                  </a:tcPr>
                </a:tc>
                <a:tc>
                  <a:txBody>
                    <a:bodyPr/>
                    <a:lstStyle/>
                    <a:p>
                      <a:pPr algn="r" indent="0" marL="0">
                        <a:buNone/>
                      </a:pPr>
                      <a:r>
                        <a:rPr lang="en-US" sz="1300" b="1" dirty="0">
                          <a:solidFill>
                            <a:srgbClr val="FFFFFF"/>
                          </a:solidFill>
                        </a:rPr>
                        <a:t>Implied cost</a:t>
                      </a:r>
                      <a:endParaRPr lang="en-US" sz="1300" dirty="0"/>
                    </a:p>
                  </a:txBody>
                  <a:tcPr marL="73152" marR="73152" marT="73152" marB="73152"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0B3D2E"/>
                    </a:solidFill>
                  </a:tcPr>
                </a:tc>
                <a:tc>
                  <a:txBody>
                    <a:bodyPr/>
                    <a:lstStyle/>
                    <a:p>
                      <a:pPr algn="r" indent="0" marL="0">
                        <a:buNone/>
                      </a:pPr>
                      <a:r>
                        <a:rPr lang="en-US" sz="1300" b="1" dirty="0">
                          <a:solidFill>
                            <a:srgbClr val="FFFFFF"/>
                          </a:solidFill>
                        </a:rPr>
                        <a:t>Implied price</a:t>
                      </a:r>
                      <a:endParaRPr lang="en-US" sz="1300" dirty="0"/>
                    </a:p>
                  </a:txBody>
                  <a:tcPr marL="73152" marR="73152" marT="73152" marB="73152"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0B3D2E"/>
                    </a:solidFill>
                  </a:tcPr>
                </a:tc>
                <a:tc>
                  <a:txBody>
                    <a:bodyPr/>
                    <a:lstStyle/>
                    <a:p>
                      <a:pPr algn="r" indent="0" marL="0">
                        <a:buNone/>
                      </a:pPr>
                      <a:r>
                        <a:rPr lang="en-US" sz="1300" b="1" dirty="0">
                          <a:solidFill>
                            <a:srgbClr val="FFFFFF"/>
                          </a:solidFill>
                        </a:rPr>
                        <a:t>"Margin"</a:t>
                      </a:r>
                      <a:endParaRPr lang="en-US" sz="1300" dirty="0"/>
                    </a:p>
                  </a:txBody>
                  <a:tcPr marL="73152" marR="73152" marT="73152" marB="73152"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0B3D2E"/>
                    </a:solidFill>
                  </a:tcPr>
                </a:tc>
              </a:tr>
              <a:tr h="384048">
                <a:tc>
                  <a:txBody>
                    <a:bodyPr/>
                    <a:lstStyle/>
                    <a:p>
                      <a:pPr indent="0" marL="0">
                        <a:buNone/>
                      </a:pPr>
                      <a:r>
                        <a:rPr lang="en-US" sz="1300" dirty="0">
                          <a:solidFill>
                            <a:srgbClr val="16211C"/>
                          </a:solidFill>
                        </a:rPr>
                        <a:t>9.EC22  EC22A+LID</a:t>
                      </a:r>
                      <a:endParaRPr lang="en-US" sz="1300" dirty="0"/>
                    </a:p>
                  </a:txBody>
                  <a:tcPr marL="73152" marR="73152" marT="73152" marB="73152"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6211C"/>
                          </a:solidFill>
                        </a:rPr>
                        <a:t>RM121.80</a:t>
                      </a:r>
                      <a:endParaRPr lang="en-US" sz="1300" dirty="0"/>
                    </a:p>
                  </a:txBody>
                  <a:tcPr marL="73152" marR="73152" marT="73152" marB="73152"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6211C"/>
                          </a:solidFill>
                        </a:rPr>
                        <a:t>RM4.86</a:t>
                      </a:r>
                      <a:endParaRPr lang="en-US" sz="1300" dirty="0"/>
                    </a:p>
                  </a:txBody>
                  <a:tcPr marL="73152" marR="73152" marT="73152" marB="73152"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B23A3A"/>
                          </a:solidFill>
                        </a:rPr>
                        <a:t>−2404%</a:t>
                      </a:r>
                      <a:endParaRPr lang="en-US" sz="1300" dirty="0"/>
                    </a:p>
                  </a:txBody>
                  <a:tcPr marL="73152" marR="73152" marT="73152" marB="73152"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6211C"/>
                          </a:solidFill>
                        </a:rPr>
                        <a:t>70.JP9  JSP 9" plate</a:t>
                      </a:r>
                      <a:endParaRPr lang="en-US" sz="1300" dirty="0"/>
                    </a:p>
                  </a:txBody>
                  <a:tcPr marL="73152" marR="73152" marT="73152" marB="73152"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6211C"/>
                          </a:solidFill>
                        </a:rPr>
                        <a:t>RM53.96</a:t>
                      </a:r>
                      <a:endParaRPr lang="en-US" sz="1300" dirty="0"/>
                    </a:p>
                  </a:txBody>
                  <a:tcPr marL="73152" marR="73152" marT="73152" marB="73152"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6211C"/>
                          </a:solidFill>
                        </a:rPr>
                        <a:t>RM19.31</a:t>
                      </a:r>
                      <a:endParaRPr lang="en-US" sz="1300" dirty="0"/>
                    </a:p>
                  </a:txBody>
                  <a:tcPr marL="73152" marR="73152" marT="73152" marB="73152"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B23A3A"/>
                          </a:solidFill>
                        </a:rPr>
                        <a:t>−179%</a:t>
                      </a:r>
                      <a:endParaRPr lang="en-US" sz="1300" dirty="0"/>
                    </a:p>
                  </a:txBody>
                  <a:tcPr marL="73152" marR="73152" marT="73152" marB="73152"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6211C"/>
                          </a:solidFill>
                        </a:rPr>
                        <a:t>SXLSK  Rubbish bag XL</a:t>
                      </a:r>
                      <a:endParaRPr lang="en-US" sz="1300" dirty="0"/>
                    </a:p>
                  </a:txBody>
                  <a:tcPr marL="73152" marR="73152" marT="73152" marB="73152"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6211C"/>
                          </a:solidFill>
                        </a:rPr>
                        <a:t>RM2.23</a:t>
                      </a:r>
                      <a:endParaRPr lang="en-US" sz="1300" dirty="0"/>
                    </a:p>
                  </a:txBody>
                  <a:tcPr marL="73152" marR="73152" marT="73152" marB="73152"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6211C"/>
                          </a:solidFill>
                        </a:rPr>
                        <a:t>RM4.23</a:t>
                      </a:r>
                      <a:endParaRPr lang="en-US" sz="1300" dirty="0"/>
                    </a:p>
                  </a:txBody>
                  <a:tcPr marL="73152" marR="73152" marT="73152" marB="73152"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0C7A5E"/>
                          </a:solidFill>
                        </a:rPr>
                        <a:t>+47.4%</a:t>
                      </a:r>
                      <a:endParaRPr lang="en-US" sz="1300" dirty="0"/>
                    </a:p>
                  </a:txBody>
                  <a:tcPr marL="73152" marR="73152" marT="73152" marB="73152"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FFFFF"/>
                    </a:solidFill>
                  </a:tcPr>
                </a:tc>
              </a:tr>
            </a:tbl>
          </a:graphicData>
        </a:graphic>
      </p:graphicFrame>
      <p:sp>
        <p:nvSpPr>
          <p:cNvPr id="8" name="Fix callout"/>
          <p:cNvSpPr/>
          <p:nvPr/>
        </p:nvSpPr>
        <p:spPr>
          <a:xfrm>
            <a:off x="5212080" y="4206240"/>
            <a:ext cx="6430975" cy="1600200"/>
          </a:xfrm>
          <a:prstGeom prst="roundRect">
            <a:avLst>
              <a:gd name="adj" fmla="val 6857"/>
            </a:avLst>
          </a:prstGeom>
          <a:solidFill>
            <a:schemeClr val="bg2"/>
          </a:solidFill>
          <a:ln w="12700">
            <a:solidFill>
              <a:schemeClr val="bg2"/>
            </a:solidFill>
            <a:prstDash val="solid"/>
          </a:ln>
        </p:spPr>
      </p:sp>
      <p:sp>
        <p:nvSpPr>
          <p:cNvPr id="9" name="Fix icon circle"/>
          <p:cNvSpPr/>
          <p:nvPr/>
        </p:nvSpPr>
        <p:spPr>
          <a:xfrm>
            <a:off x="5486400" y="4434840"/>
            <a:ext cx="566928" cy="566928"/>
          </a:xfrm>
          <a:prstGeom prst="ellipse">
            <a:avLst/>
          </a:prstGeom>
          <a:solidFill>
            <a:schemeClr val="accent1"/>
          </a:solidFill>
          <a:ln w="12700">
            <a:solidFill>
              <a:schemeClr val="accent1"/>
            </a:solidFill>
            <a:prstDash val="solid"/>
          </a:ln>
        </p:spPr>
      </p:sp>
      <p:pic>
        <p:nvPicPr>
          <p:cNvPr id="10" name="Fix icon" descr="preencoded.png">    </p:cNvPr>
          <p:cNvPicPr>
            <a:picLocks noChangeAspect="1"/>
          </p:cNvPicPr>
          <p:nvPr/>
        </p:nvPicPr>
        <p:blipFill>
          <a:blip r:embed="rId2"/>
          <a:stretch>
            <a:fillRect/>
          </a:stretch>
        </p:blipFill>
        <p:spPr>
          <a:xfrm>
            <a:off x="5622463" y="4570903"/>
            <a:ext cx="294803" cy="294803"/>
          </a:xfrm>
          <a:prstGeom prst="rect">
            <a:avLst/>
          </a:prstGeom>
        </p:spPr>
      </p:pic>
      <p:sp>
        <p:nvSpPr>
          <p:cNvPr id="11" name="Text 6"/>
          <p:cNvSpPr txBox="1"/>
          <p:nvPr/>
        </p:nvSpPr>
        <p:spPr>
          <a:xfrm>
            <a:off x="6217920" y="4343400"/>
            <a:ext cx="5196535" cy="1371600"/>
          </a:xfrm>
          <a:prstGeom prst="rect">
            <a:avLst/>
          </a:prstGeom>
          <a:noFill/>
          <a:ln/>
        </p:spPr>
        <p:txBody>
          <a:bodyPr wrap="square" lIns="0" tIns="0" rIns="0" bIns="0" rtlCol="0" anchor="t"/>
          <a:lstStyle/>
          <a:p>
            <a:pPr indent="0" marL="0">
              <a:buNone/>
            </a:pPr>
            <a:r>
              <a:rPr lang="en-US" sz="1600" b="1" dirty="0">
                <a:solidFill>
                  <a:schemeClr val="tx2"/>
                </a:solidFill>
              </a:rPr>
              <a:t>Fixing it is Milestone 1, and it is finite</a:t>
            </a:r>
            <a:endParaRPr lang="en-US" sz="1600" dirty="0"/>
          </a:p>
          <a:p>
            <a:pPr indent="0" marL="0">
              <a:buNone/>
            </a:pPr>
            <a:r>
              <a:rPr lang="en-US" sz="1400" dirty="0">
                <a:solidFill>
                  <a:schemeClr val="tx1"/>
                </a:solidFill>
              </a:rPr>
              <a:t>Finance confirms purchase unit, selling unit and units per carton for 73 SKUs. Until a cost is verified, the app shows 成本待核实 / cost not verified, never a wrong margin.</a:t>
            </a:r>
            <a:endParaRPr lang="en-US" sz="1600" dirty="0"/>
          </a:p>
        </p:txBody>
      </p:sp>
      <p:sp>
        <p:nvSpPr>
          <p:cNvPr id="12" name="Source"/>
          <p:cNvSpPr txBox="1"/>
          <p:nvPr/>
        </p:nvSpPr>
        <p:spPr>
          <a:xfrm>
            <a:off x="548640" y="6053328"/>
            <a:ext cx="11094415" cy="274320"/>
          </a:xfrm>
          <a:prstGeom prst="rect">
            <a:avLst/>
          </a:prstGeom>
          <a:noFill/>
          <a:ln/>
        </p:spPr>
        <p:txBody>
          <a:bodyPr wrap="square" lIns="0" tIns="0" rIns="0" bIns="0" rtlCol="0" anchor="ctr"/>
          <a:lstStyle/>
          <a:p>
            <a:pPr indent="0" marL="0">
              <a:buNone/>
            </a:pPr>
            <a:r>
              <a:rPr lang="en-US" sz="1000" i="1" dirty="0">
                <a:solidFill>
                  <a:schemeClr val="accent5"/>
                </a:solidFill>
              </a:rPr>
              <a:t>Source: FY2025 purchase and sales records, cost_data_quality flag in seed_products.csv (DATA_SPEC §3). OK = implied margin between 2% and 60%.</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b">
            <a:normAutofit/>
          </a:bodyPr>
          <a:lstStyle/>
          <a:p>
            <a:pPr algn="l" indent="0" marL="0">
              <a:buNone/>
            </a:pPr>
            <a:r>
              <a:rPr lang="en-US" sz="3200" b="1" dirty="0">
                <a:solidFill>
                  <a:schemeClr val="tx2"/>
                </a:solidFill>
              </a:rPr>
              <a:t>Every 1% of leakage is worth about RM275k a year</a:t>
            </a:r>
            <a:endParaRPr lang="en-US" sz="3200" dirty="0"/>
          </a:p>
        </p:txBody>
      </p:sp>
      <p:sp>
        <p:nvSpPr>
          <p:cNvPr id="3" name="Text 0"/>
          <p:cNvSpPr/>
          <p:nvPr>
            <p:ph idx="101" type="body" hasCustomPrompt="1"/>
          </p:nvPr>
        </p:nvSpPr>
        <p:spPr>
          <a:xfrm>
            <a:off x="548640" y="1024128"/>
            <a:ext cx="11094415" cy="365760"/>
          </a:xfrm>
          <a:prstGeom prst="rect">
            <a:avLst/>
          </a:prstGeom>
          <a:noFill/>
          <a:ln/>
        </p:spPr>
        <p:txBody>
          <a:bodyPr wrap="square" lIns="0" tIns="0" rIns="0" bIns="0" rtlCol="0" anchor="t"/>
          <a:lstStyle/>
          <a:p>
            <a:pPr algn="l" indent="0" marL="0">
              <a:buNone/>
            </a:pPr>
            <a:r>
              <a:rPr lang="en-US" sz="1600" dirty="0">
                <a:solidFill>
                  <a:schemeClr val="accent1"/>
                </a:solidFill>
              </a:rPr>
              <a:t>价格流失的代价（示例计算，非预测）</a:t>
            </a:r>
            <a:endParaRPr lang="en-US" sz="1600" dirty="0"/>
          </a:p>
        </p:txBody>
      </p:sp>
      <p:graphicFrame>
        <p:nvGraphicFramePr>
          <p:cNvPr id="4" name="Illustrative leakage value" descr=""/>
          <p:cNvGraphicFramePr/>
          <p:nvPr/>
        </p:nvGraphicFramePr>
        <p:xfrm>
          <a:off x="548640" y="1600200"/>
          <a:ext cx="6035040" cy="4206240"/>
        </p:xfrm>
        <a:graphic xmlns:a="http://schemas.openxmlformats.org/drawingml/2006/main">
          <a:graphicData uri="http://schemas.openxmlformats.org/drawingml/2006/chart">
            <c:chart xmlns:c="http://schemas.openxmlformats.org/drawingml/2006/chart" r:id="rId1"/>
          </a:graphicData>
        </a:graphic>
      </p:graphicFrame>
      <p:sp>
        <p:nvSpPr>
          <p:cNvPr id="5" name="Illustrative warning"/>
          <p:cNvSpPr/>
          <p:nvPr/>
        </p:nvSpPr>
        <p:spPr>
          <a:xfrm>
            <a:off x="6995160" y="1600200"/>
            <a:ext cx="4647895" cy="1417320"/>
          </a:xfrm>
          <a:prstGeom prst="roundRect">
            <a:avLst>
              <a:gd name="adj" fmla="val 7742"/>
            </a:avLst>
          </a:prstGeom>
          <a:solidFill>
            <a:srgbClr val="FBF3E4"/>
          </a:solidFill>
          <a:ln w="12700">
            <a:solidFill>
              <a:srgbClr val="FBF3E4"/>
            </a:solidFill>
            <a:prstDash val="solid"/>
          </a:ln>
        </p:spPr>
      </p:sp>
      <p:sp>
        <p:nvSpPr>
          <p:cNvPr id="6" name="Text 3"/>
          <p:cNvSpPr txBox="1"/>
          <p:nvPr/>
        </p:nvSpPr>
        <p:spPr>
          <a:xfrm>
            <a:off x="7269480" y="1737360"/>
            <a:ext cx="4099255" cy="1188720"/>
          </a:xfrm>
          <a:prstGeom prst="rect">
            <a:avLst/>
          </a:prstGeom>
          <a:noFill/>
          <a:ln/>
        </p:spPr>
        <p:txBody>
          <a:bodyPr wrap="square" lIns="0" tIns="0" rIns="0" bIns="0" rtlCol="0" anchor="t"/>
          <a:lstStyle/>
          <a:p>
            <a:pPr indent="0" marL="0">
              <a:buNone/>
            </a:pPr>
            <a:r>
              <a:rPr lang="en-US" sz="1500" b="1" dirty="0">
                <a:solidFill>
                  <a:schemeClr val="accent2"/>
                </a:solidFill>
              </a:rPr>
              <a:t>Illustrative arithmetic, not a forecast</a:t>
            </a:r>
            <a:endParaRPr lang="en-US" sz="1500" dirty="0"/>
          </a:p>
          <a:p>
            <a:pPr indent="0" marL="0">
              <a:buNone/>
            </a:pPr>
            <a:r>
              <a:rPr lang="en-US" sz="1400" dirty="0">
                <a:solidFill>
                  <a:schemeClr val="tx1"/>
                </a:solidFill>
              </a:rPr>
              <a:t>We do not yet know SK Keong's actual leakage. The pilot will measure it from captured quotes.</a:t>
            </a:r>
            <a:endParaRPr lang="en-US" sz="1500" dirty="0"/>
          </a:p>
        </p:txBody>
      </p:sp>
      <p:sp>
        <p:nvSpPr>
          <p:cNvPr id="7" name="Text 4"/>
          <p:cNvSpPr txBox="1"/>
          <p:nvPr/>
        </p:nvSpPr>
        <p:spPr>
          <a:xfrm>
            <a:off x="6995160" y="3291840"/>
            <a:ext cx="4647895" cy="365760"/>
          </a:xfrm>
          <a:prstGeom prst="rect">
            <a:avLst/>
          </a:prstGeom>
          <a:noFill/>
          <a:ln/>
        </p:spPr>
        <p:txBody>
          <a:bodyPr wrap="square" lIns="0" tIns="0" rIns="0" bIns="0" rtlCol="0" anchor="ctr"/>
          <a:lstStyle/>
          <a:p>
            <a:pPr indent="0" marL="0">
              <a:buNone/>
            </a:pPr>
            <a:r>
              <a:rPr lang="en-US" sz="1600" b="1" dirty="0">
                <a:solidFill>
                  <a:schemeClr val="tx2"/>
                </a:solidFill>
              </a:rPr>
              <a:t>How the app reduces it</a:t>
            </a:r>
            <a:endParaRPr lang="en-US" sz="1600" dirty="0"/>
          </a:p>
        </p:txBody>
      </p:sp>
      <p:sp>
        <p:nvSpPr>
          <p:cNvPr id="8" name="A floor price on every quote circle"/>
          <p:cNvSpPr/>
          <p:nvPr/>
        </p:nvSpPr>
        <p:spPr>
          <a:xfrm>
            <a:off x="6995160" y="3840480"/>
            <a:ext cx="457200" cy="457200"/>
          </a:xfrm>
          <a:prstGeom prst="ellipse">
            <a:avLst/>
          </a:prstGeom>
          <a:solidFill>
            <a:schemeClr val="accent1"/>
          </a:solidFill>
          <a:ln w="12700">
            <a:solidFill>
              <a:schemeClr val="accent1"/>
            </a:solidFill>
            <a:prstDash val="solid"/>
          </a:ln>
        </p:spPr>
      </p:sp>
      <p:pic>
        <p:nvPicPr>
          <p:cNvPr id="9" name="A floor price on every quote" descr="preencoded.png">    </p:cNvPr>
          <p:cNvPicPr>
            <a:picLocks noChangeAspect="1"/>
          </p:cNvPicPr>
          <p:nvPr/>
        </p:nvPicPr>
        <p:blipFill>
          <a:blip r:embed="rId2"/>
          <a:stretch>
            <a:fillRect/>
          </a:stretch>
        </p:blipFill>
        <p:spPr>
          <a:xfrm>
            <a:off x="7104888" y="3950208"/>
            <a:ext cx="237744" cy="237744"/>
          </a:xfrm>
          <a:prstGeom prst="rect">
            <a:avLst/>
          </a:prstGeom>
        </p:spPr>
      </p:pic>
      <p:sp>
        <p:nvSpPr>
          <p:cNvPr id="10" name="Text 6"/>
          <p:cNvSpPr txBox="1"/>
          <p:nvPr/>
        </p:nvSpPr>
        <p:spPr>
          <a:xfrm>
            <a:off x="7635240" y="3840480"/>
            <a:ext cx="4007815" cy="457200"/>
          </a:xfrm>
          <a:prstGeom prst="rect">
            <a:avLst/>
          </a:prstGeom>
          <a:noFill/>
          <a:ln/>
        </p:spPr>
        <p:txBody>
          <a:bodyPr wrap="square" lIns="0" tIns="0" rIns="0" bIns="0" rtlCol="0" anchor="ctr"/>
          <a:lstStyle/>
          <a:p>
            <a:pPr indent="0" marL="0">
              <a:buNone/>
            </a:pPr>
            <a:r>
              <a:rPr lang="en-US" sz="1500" dirty="0">
                <a:solidFill>
                  <a:schemeClr val="tx1"/>
                </a:solidFill>
              </a:rPr>
              <a:t>A floor price on every quote</a:t>
            </a:r>
            <a:endParaRPr lang="en-US" sz="1500" dirty="0"/>
          </a:p>
        </p:txBody>
      </p:sp>
      <p:sp>
        <p:nvSpPr>
          <p:cNvPr id="11" name="See where we sit above every competitor circle"/>
          <p:cNvSpPr/>
          <p:nvPr/>
        </p:nvSpPr>
        <p:spPr>
          <a:xfrm>
            <a:off x="6995160" y="4498848"/>
            <a:ext cx="457200" cy="457200"/>
          </a:xfrm>
          <a:prstGeom prst="ellipse">
            <a:avLst/>
          </a:prstGeom>
          <a:solidFill>
            <a:schemeClr val="accent1"/>
          </a:solidFill>
          <a:ln w="12700">
            <a:solidFill>
              <a:schemeClr val="accent1"/>
            </a:solidFill>
            <a:prstDash val="solid"/>
          </a:ln>
        </p:spPr>
      </p:sp>
      <p:pic>
        <p:nvPicPr>
          <p:cNvPr id="12" name="See where we sit above every competitor" descr="preencoded.png">    </p:cNvPr>
          <p:cNvPicPr>
            <a:picLocks noChangeAspect="1"/>
          </p:cNvPicPr>
          <p:nvPr/>
        </p:nvPicPr>
        <p:blipFill>
          <a:blip r:embed="rId3"/>
          <a:stretch>
            <a:fillRect/>
          </a:stretch>
        </p:blipFill>
        <p:spPr>
          <a:xfrm>
            <a:off x="7104888" y="4608576"/>
            <a:ext cx="237744" cy="237744"/>
          </a:xfrm>
          <a:prstGeom prst="rect">
            <a:avLst/>
          </a:prstGeom>
        </p:spPr>
      </p:pic>
      <p:sp>
        <p:nvSpPr>
          <p:cNvPr id="13" name="Text 8"/>
          <p:cNvSpPr txBox="1"/>
          <p:nvPr/>
        </p:nvSpPr>
        <p:spPr>
          <a:xfrm>
            <a:off x="7635240" y="4498848"/>
            <a:ext cx="4007815" cy="457200"/>
          </a:xfrm>
          <a:prstGeom prst="rect">
            <a:avLst/>
          </a:prstGeom>
          <a:noFill/>
          <a:ln/>
        </p:spPr>
        <p:txBody>
          <a:bodyPr wrap="square" lIns="0" tIns="0" rIns="0" bIns="0" rtlCol="0" anchor="ctr"/>
          <a:lstStyle/>
          <a:p>
            <a:pPr indent="0" marL="0">
              <a:buNone/>
            </a:pPr>
            <a:r>
              <a:rPr lang="en-US" sz="1500" dirty="0">
                <a:solidFill>
                  <a:schemeClr val="tx1"/>
                </a:solidFill>
              </a:rPr>
              <a:t>See where we sit above every competitor</a:t>
            </a:r>
            <a:endParaRPr lang="en-US" sz="1500" dirty="0"/>
          </a:p>
        </p:txBody>
      </p:sp>
      <p:sp>
        <p:nvSpPr>
          <p:cNvPr id="14" name="Price history shows drift over time circle"/>
          <p:cNvSpPr/>
          <p:nvPr/>
        </p:nvSpPr>
        <p:spPr>
          <a:xfrm>
            <a:off x="6995160" y="5157216"/>
            <a:ext cx="457200" cy="457200"/>
          </a:xfrm>
          <a:prstGeom prst="ellipse">
            <a:avLst/>
          </a:prstGeom>
          <a:solidFill>
            <a:schemeClr val="accent1"/>
          </a:solidFill>
          <a:ln w="12700">
            <a:solidFill>
              <a:schemeClr val="accent1"/>
            </a:solidFill>
            <a:prstDash val="solid"/>
          </a:ln>
        </p:spPr>
      </p:sp>
      <p:pic>
        <p:nvPicPr>
          <p:cNvPr id="15" name="Price history shows drift over time" descr="preencoded.png">    </p:cNvPr>
          <p:cNvPicPr>
            <a:picLocks noChangeAspect="1"/>
          </p:cNvPicPr>
          <p:nvPr/>
        </p:nvPicPr>
        <p:blipFill>
          <a:blip r:embed="rId4"/>
          <a:stretch>
            <a:fillRect/>
          </a:stretch>
        </p:blipFill>
        <p:spPr>
          <a:xfrm>
            <a:off x="7104888" y="5266944"/>
            <a:ext cx="237744" cy="237744"/>
          </a:xfrm>
          <a:prstGeom prst="rect">
            <a:avLst/>
          </a:prstGeom>
        </p:spPr>
      </p:pic>
      <p:sp>
        <p:nvSpPr>
          <p:cNvPr id="16" name="Text 10"/>
          <p:cNvSpPr txBox="1"/>
          <p:nvPr/>
        </p:nvSpPr>
        <p:spPr>
          <a:xfrm>
            <a:off x="7635240" y="5157216"/>
            <a:ext cx="4007815" cy="457200"/>
          </a:xfrm>
          <a:prstGeom prst="rect">
            <a:avLst/>
          </a:prstGeom>
          <a:noFill/>
          <a:ln/>
        </p:spPr>
        <p:txBody>
          <a:bodyPr wrap="square" lIns="0" tIns="0" rIns="0" bIns="0" rtlCol="0" anchor="ctr"/>
          <a:lstStyle/>
          <a:p>
            <a:pPr indent="0" marL="0">
              <a:buNone/>
            </a:pPr>
            <a:r>
              <a:rPr lang="en-US" sz="1500" dirty="0">
                <a:solidFill>
                  <a:schemeClr val="tx1"/>
                </a:solidFill>
              </a:rPr>
              <a:t>Price history shows drift over time</a:t>
            </a:r>
            <a:endParaRPr lang="en-US" sz="1500" dirty="0"/>
          </a:p>
        </p:txBody>
      </p:sp>
      <p:sp>
        <p:nvSpPr>
          <p:cNvPr id="17" name="Source"/>
          <p:cNvSpPr txBox="1"/>
          <p:nvPr/>
        </p:nvSpPr>
        <p:spPr>
          <a:xfrm>
            <a:off x="548640" y="6053328"/>
            <a:ext cx="11094415" cy="274320"/>
          </a:xfrm>
          <a:prstGeom prst="rect">
            <a:avLst/>
          </a:prstGeom>
          <a:noFill/>
          <a:ln/>
        </p:spPr>
        <p:txBody>
          <a:bodyPr wrap="square" lIns="0" tIns="0" rIns="0" bIns="0" rtlCol="0" anchor="ctr"/>
          <a:lstStyle/>
          <a:p>
            <a:pPr indent="0" marL="0">
              <a:buNone/>
            </a:pPr>
            <a:r>
              <a:rPr lang="en-US" sz="1000" i="1" dirty="0">
                <a:solidFill>
                  <a:schemeClr val="accent5"/>
                </a:solidFill>
              </a:rPr>
              <a:t>Calculation: FY2025 sales value RM27,521,859 (DATA_SPEC §9) × leakage rate. Leakage rates are hypothetical.</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b">
            <a:normAutofit/>
          </a:bodyPr>
          <a:lstStyle/>
          <a:p>
            <a:pPr algn="l" indent="0" marL="0">
              <a:buNone/>
            </a:pPr>
            <a:r>
              <a:rPr lang="en-US" sz="3200" b="1" dirty="0">
                <a:solidFill>
                  <a:schemeClr val="tx2"/>
                </a:solidFill>
              </a:rPr>
              <a:t>One app, two jobs</a:t>
            </a:r>
            <a:endParaRPr lang="en-US" sz="3200" dirty="0"/>
          </a:p>
        </p:txBody>
      </p:sp>
      <p:sp>
        <p:nvSpPr>
          <p:cNvPr id="3" name="Text 0"/>
          <p:cNvSpPr/>
          <p:nvPr>
            <p:ph idx="101" type="body" hasCustomPrompt="1"/>
          </p:nvPr>
        </p:nvSpPr>
        <p:spPr>
          <a:xfrm>
            <a:off x="548640" y="1024128"/>
            <a:ext cx="11094415" cy="365760"/>
          </a:xfrm>
          <a:prstGeom prst="rect">
            <a:avLst/>
          </a:prstGeom>
          <a:noFill/>
          <a:ln/>
        </p:spPr>
        <p:txBody>
          <a:bodyPr wrap="square" lIns="0" tIns="0" rIns="0" bIns="0" rtlCol="0" anchor="t"/>
          <a:lstStyle/>
          <a:p>
            <a:pPr algn="l" indent="0" marL="0">
              <a:buNone/>
            </a:pPr>
            <a:r>
              <a:rPr lang="en-US" sz="1600" dirty="0">
                <a:solidFill>
                  <a:schemeClr val="accent1"/>
                </a:solidFill>
              </a:rPr>
              <a:t>一个应用，两种用户</a:t>
            </a:r>
            <a:endParaRPr lang="en-US" sz="1600" dirty="0"/>
          </a:p>
        </p:txBody>
      </p:sp>
      <p:sp>
        <p:nvSpPr>
          <p:cNvPr id="4" name="For owner and finance"/>
          <p:cNvSpPr/>
          <p:nvPr/>
        </p:nvSpPr>
        <p:spPr>
          <a:xfrm>
            <a:off x="548640" y="1737360"/>
            <a:ext cx="5074920" cy="3520440"/>
          </a:xfrm>
          <a:prstGeom prst="roundRect">
            <a:avLst>
              <a:gd name="adj" fmla="val 3117"/>
            </a:avLst>
          </a:prstGeom>
          <a:solidFill>
            <a:schemeClr val="bg2"/>
          </a:solidFill>
          <a:ln w="12700">
            <a:solidFill>
              <a:schemeClr val="bg2"/>
            </a:solidFill>
            <a:prstDash val="solid"/>
          </a:ln>
        </p:spPr>
      </p:sp>
      <p:sp>
        <p:nvSpPr>
          <p:cNvPr id="5" name="For owner and finance icon circle"/>
          <p:cNvSpPr/>
          <p:nvPr/>
        </p:nvSpPr>
        <p:spPr>
          <a:xfrm>
            <a:off x="868680" y="2057400"/>
            <a:ext cx="685800" cy="685800"/>
          </a:xfrm>
          <a:prstGeom prst="ellipse">
            <a:avLst/>
          </a:prstGeom>
          <a:solidFill>
            <a:schemeClr val="tx2"/>
          </a:solidFill>
          <a:ln w="12700">
            <a:solidFill>
              <a:schemeClr val="tx2"/>
            </a:solidFill>
            <a:prstDash val="solid"/>
          </a:ln>
        </p:spPr>
      </p:sp>
      <p:pic>
        <p:nvPicPr>
          <p:cNvPr id="6" name="For owner and finance icon" descr="preencoded.png">    </p:cNvPr>
          <p:cNvPicPr>
            <a:picLocks noChangeAspect="1"/>
          </p:cNvPicPr>
          <p:nvPr/>
        </p:nvPicPr>
        <p:blipFill>
          <a:blip r:embed="rId1"/>
          <a:stretch>
            <a:fillRect/>
          </a:stretch>
        </p:blipFill>
        <p:spPr>
          <a:xfrm>
            <a:off x="1033272" y="2221992"/>
            <a:ext cx="356616" cy="356616"/>
          </a:xfrm>
          <a:prstGeom prst="rect">
            <a:avLst/>
          </a:prstGeom>
        </p:spPr>
      </p:pic>
      <p:sp>
        <p:nvSpPr>
          <p:cNvPr id="7" name="Text 4"/>
          <p:cNvSpPr txBox="1"/>
          <p:nvPr/>
        </p:nvSpPr>
        <p:spPr>
          <a:xfrm>
            <a:off x="1737360" y="2011680"/>
            <a:ext cx="3611880" cy="822960"/>
          </a:xfrm>
          <a:prstGeom prst="rect">
            <a:avLst/>
          </a:prstGeom>
          <a:noFill/>
          <a:ln/>
        </p:spPr>
        <p:txBody>
          <a:bodyPr wrap="square" lIns="0" tIns="0" rIns="0" bIns="0" rtlCol="0" anchor="ctr"/>
          <a:lstStyle/>
          <a:p>
            <a:pPr indent="0" marL="0">
              <a:buNone/>
            </a:pPr>
            <a:r>
              <a:rPr lang="en-US" sz="2200" b="1" dirty="0">
                <a:solidFill>
                  <a:schemeClr val="tx2"/>
                </a:solidFill>
              </a:rPr>
              <a:t>For owner and finance</a:t>
            </a:r>
            <a:endParaRPr lang="en-US" sz="2200" dirty="0"/>
          </a:p>
          <a:p>
            <a:pPr indent="0" marL="0">
              <a:buNone/>
            </a:pPr>
            <a:r>
              <a:rPr lang="en-US" sz="1400" dirty="0">
                <a:solidFill>
                  <a:schemeClr val="accent5"/>
                </a:solidFill>
              </a:rPr>
              <a:t>老板与财务 · desktop</a:t>
            </a:r>
            <a:endParaRPr lang="en-US" sz="2200" dirty="0"/>
          </a:p>
        </p:txBody>
      </p:sp>
      <p:sp>
        <p:nvSpPr>
          <p:cNvPr id="8" name="Text 5"/>
          <p:cNvSpPr txBox="1"/>
          <p:nvPr/>
        </p:nvSpPr>
        <p:spPr>
          <a:xfrm>
            <a:off x="914400" y="3063240"/>
            <a:ext cx="4389120" cy="19659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UOM reconciliation: verified cost per selling unit</a:t>
            </a:r>
            <a:endParaRPr lang="en-US" sz="1600" dirty="0"/>
          </a:p>
          <a:p>
            <a:pPr marL="342900" indent="-342900">
              <a:spcAft>
                <a:spcPts val="1000"/>
              </a:spcAft>
              <a:buSzPct val="100000"/>
              <a:buChar char="•"/>
            </a:pPr>
            <a:r>
              <a:rPr lang="en-US" sz="1600" dirty="0">
                <a:solidFill>
                  <a:schemeClr val="tx1"/>
                </a:solidFill>
              </a:rPr>
              <a:t>Target margin and tier prices, with full history</a:t>
            </a:r>
            <a:endParaRPr lang="en-US" sz="1600" dirty="0"/>
          </a:p>
          <a:p>
            <a:pPr marL="342900" indent="-342900">
              <a:spcAft>
                <a:spcPts val="1000"/>
              </a:spcAft>
              <a:buSzPct val="100000"/>
              <a:buChar char="•"/>
            </a:pPr>
            <a:r>
              <a:rPr lang="en-US" sz="1600" dirty="0">
                <a:solidFill>
                  <a:schemeClr val="tx1"/>
                </a:solidFill>
              </a:rPr>
              <a:t>Price intelligence: our price vs competitors</a:t>
            </a:r>
            <a:endParaRPr lang="en-US" sz="1600" dirty="0"/>
          </a:p>
          <a:p>
            <a:pPr marL="342900" indent="-342900">
              <a:spcAft>
                <a:spcPts val="1000"/>
              </a:spcAft>
              <a:buSzPct val="100000"/>
              <a:buChar char="•"/>
            </a:pPr>
            <a:r>
              <a:rPr lang="en-US" sz="1600" dirty="0">
                <a:solidFill>
                  <a:schemeClr val="tx1"/>
                </a:solidFill>
              </a:rPr>
              <a:t>Refresh from UBS exports safely, any time</a:t>
            </a:r>
            <a:endParaRPr lang="en-US" sz="1600" dirty="0"/>
          </a:p>
        </p:txBody>
      </p:sp>
      <p:sp>
        <p:nvSpPr>
          <p:cNvPr id="9" name="For salespeople"/>
          <p:cNvSpPr/>
          <p:nvPr/>
        </p:nvSpPr>
        <p:spPr>
          <a:xfrm>
            <a:off x="6568135" y="1737360"/>
            <a:ext cx="5074920" cy="3520440"/>
          </a:xfrm>
          <a:prstGeom prst="roundRect">
            <a:avLst>
              <a:gd name="adj" fmla="val 3117"/>
            </a:avLst>
          </a:prstGeom>
          <a:solidFill>
            <a:schemeClr val="bg2"/>
          </a:solidFill>
          <a:ln w="12700">
            <a:solidFill>
              <a:schemeClr val="bg2"/>
            </a:solidFill>
            <a:prstDash val="solid"/>
          </a:ln>
        </p:spPr>
      </p:sp>
      <p:sp>
        <p:nvSpPr>
          <p:cNvPr id="10" name="For salespeople icon circle"/>
          <p:cNvSpPr/>
          <p:nvPr/>
        </p:nvSpPr>
        <p:spPr>
          <a:xfrm>
            <a:off x="6888175" y="2057400"/>
            <a:ext cx="685800" cy="685800"/>
          </a:xfrm>
          <a:prstGeom prst="ellipse">
            <a:avLst/>
          </a:prstGeom>
          <a:solidFill>
            <a:schemeClr val="accent1"/>
          </a:solidFill>
          <a:ln w="12700">
            <a:solidFill>
              <a:schemeClr val="accent1"/>
            </a:solidFill>
            <a:prstDash val="solid"/>
          </a:ln>
        </p:spPr>
      </p:sp>
      <p:pic>
        <p:nvPicPr>
          <p:cNvPr id="11" name="For salespeople icon" descr="preencoded.png">    </p:cNvPr>
          <p:cNvPicPr>
            <a:picLocks noChangeAspect="1"/>
          </p:cNvPicPr>
          <p:nvPr/>
        </p:nvPicPr>
        <p:blipFill>
          <a:blip r:embed="rId2"/>
          <a:stretch>
            <a:fillRect/>
          </a:stretch>
        </p:blipFill>
        <p:spPr>
          <a:xfrm>
            <a:off x="7052767" y="2221992"/>
            <a:ext cx="356616" cy="356616"/>
          </a:xfrm>
          <a:prstGeom prst="rect">
            <a:avLst/>
          </a:prstGeom>
        </p:spPr>
      </p:pic>
      <p:sp>
        <p:nvSpPr>
          <p:cNvPr id="12" name="Text 8"/>
          <p:cNvSpPr txBox="1"/>
          <p:nvPr/>
        </p:nvSpPr>
        <p:spPr>
          <a:xfrm>
            <a:off x="7756855" y="2011680"/>
            <a:ext cx="3611880" cy="822960"/>
          </a:xfrm>
          <a:prstGeom prst="rect">
            <a:avLst/>
          </a:prstGeom>
          <a:noFill/>
          <a:ln/>
        </p:spPr>
        <p:txBody>
          <a:bodyPr wrap="square" lIns="0" tIns="0" rIns="0" bIns="0" rtlCol="0" anchor="ctr"/>
          <a:lstStyle/>
          <a:p>
            <a:pPr indent="0" marL="0">
              <a:buNone/>
            </a:pPr>
            <a:r>
              <a:rPr lang="en-US" sz="2200" b="1" dirty="0">
                <a:solidFill>
                  <a:schemeClr val="tx2"/>
                </a:solidFill>
              </a:rPr>
              <a:t>For salespeople</a:t>
            </a:r>
            <a:endParaRPr lang="en-US" sz="2200" dirty="0"/>
          </a:p>
          <a:p>
            <a:pPr indent="0" marL="0">
              <a:buNone/>
            </a:pPr>
            <a:r>
              <a:rPr lang="en-US" sz="1400" dirty="0">
                <a:solidFill>
                  <a:schemeClr val="accent5"/>
                </a:solidFill>
              </a:rPr>
              <a:t>业务员 · phone, offline</a:t>
            </a:r>
            <a:endParaRPr lang="en-US" sz="2200" dirty="0"/>
          </a:p>
        </p:txBody>
      </p:sp>
      <p:sp>
        <p:nvSpPr>
          <p:cNvPr id="13" name="Text 9"/>
          <p:cNvSpPr txBox="1"/>
          <p:nvPr/>
        </p:nvSpPr>
        <p:spPr>
          <a:xfrm>
            <a:off x="6933895" y="3063240"/>
            <a:ext cx="4389120" cy="19659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Price lookup: list and floor for this customer</a:t>
            </a:r>
            <a:endParaRPr lang="en-US" sz="1600" dirty="0"/>
          </a:p>
          <a:p>
            <a:pPr marL="342900" indent="-342900">
              <a:spcAft>
                <a:spcPts val="1000"/>
              </a:spcAft>
              <a:buSzPct val="100000"/>
              <a:buChar char="•"/>
            </a:pPr>
            <a:r>
              <a:rPr lang="en-US" sz="1600" dirty="0">
                <a:solidFill>
                  <a:schemeClr val="tx1"/>
                </a:solidFill>
              </a:rPr>
              <a:t>Visit prep: what similar shops buy that this one does not</a:t>
            </a:r>
            <a:endParaRPr lang="en-US" sz="1600" dirty="0"/>
          </a:p>
          <a:p>
            <a:pPr marL="342900" indent="-342900">
              <a:spcAft>
                <a:spcPts val="1000"/>
              </a:spcAft>
              <a:buSzPct val="100000"/>
              <a:buChar char="•"/>
            </a:pPr>
            <a:r>
              <a:rPr lang="en-US" sz="1600" dirty="0">
                <a:solidFill>
                  <a:schemeClr val="tx1"/>
                </a:solidFill>
              </a:rPr>
              <a:t>Competitor capture: three taps and a number</a:t>
            </a:r>
            <a:endParaRPr lang="en-US" sz="1600" dirty="0"/>
          </a:p>
          <a:p>
            <a:pPr marL="342900" indent="-342900">
              <a:spcAft>
                <a:spcPts val="1000"/>
              </a:spcAft>
              <a:buSzPct val="100000"/>
              <a:buChar char="•"/>
            </a:pPr>
            <a:r>
              <a:rPr lang="en-US" sz="1600" dirty="0">
                <a:solidFill>
                  <a:schemeClr val="tx1"/>
                </a:solidFill>
              </a:rPr>
              <a:t>Never shows cost or margin</a:t>
            </a:r>
            <a:endParaRPr lang="en-US" sz="1600" dirty="0"/>
          </a:p>
        </p:txBody>
      </p:sp>
      <p:sp>
        <p:nvSpPr>
          <p:cNvPr id="14" name="Shared data hub"/>
          <p:cNvSpPr/>
          <p:nvPr/>
        </p:nvSpPr>
        <p:spPr>
          <a:xfrm>
            <a:off x="5711800" y="3108960"/>
            <a:ext cx="768096" cy="768096"/>
          </a:xfrm>
          <a:prstGeom prst="ellipse">
            <a:avLst/>
          </a:prstGeom>
          <a:solidFill>
            <a:schemeClr val="accent2"/>
          </a:solidFill>
          <a:ln w="38100">
            <a:solidFill>
              <a:srgbClr val="FFFFFF"/>
            </a:solidFill>
            <a:prstDash val="solid"/>
          </a:ln>
        </p:spPr>
      </p:sp>
      <p:pic>
        <p:nvPicPr>
          <p:cNvPr id="15" name="Sync icon" descr="preencoded.png">    </p:cNvPr>
          <p:cNvPicPr>
            <a:picLocks noChangeAspect="1"/>
          </p:cNvPicPr>
          <p:nvPr/>
        </p:nvPicPr>
        <p:blipFill>
          <a:blip r:embed="rId3"/>
          <a:stretch>
            <a:fillRect/>
          </a:stretch>
        </p:blipFill>
        <p:spPr>
          <a:xfrm>
            <a:off x="5894680" y="3291840"/>
            <a:ext cx="402336" cy="402336"/>
          </a:xfrm>
          <a:prstGeom prst="rect">
            <a:avLst/>
          </a:prstGeom>
        </p:spPr>
      </p:pic>
      <p:sp>
        <p:nvSpPr>
          <p:cNvPr id="16" name="Text 11"/>
          <p:cNvSpPr txBox="1"/>
          <p:nvPr/>
        </p:nvSpPr>
        <p:spPr>
          <a:xfrm>
            <a:off x="548640" y="5532120"/>
            <a:ext cx="11094415" cy="320040"/>
          </a:xfrm>
          <a:prstGeom prst="rect">
            <a:avLst/>
          </a:prstGeom>
          <a:noFill/>
          <a:ln/>
        </p:spPr>
        <p:txBody>
          <a:bodyPr wrap="square" lIns="0" tIns="0" rIns="0" bIns="0" rtlCol="0" anchor="ctr"/>
          <a:lstStyle/>
          <a:p>
            <a:pPr algn="ctr" indent="0" marL="0">
              <a:buNone/>
            </a:pPr>
            <a:r>
              <a:rPr lang="en-US" sz="1400" dirty="0">
                <a:solidFill>
                  <a:schemeClr val="accent5"/>
                </a:solidFill>
              </a:rPr>
              <a:t>Same prices, one source of truth. Bilingual: 简体中文 first, English second.</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b">
            <a:normAutofit/>
          </a:bodyPr>
          <a:lstStyle/>
          <a:p>
            <a:pPr algn="l" indent="0" marL="0">
              <a:buNone/>
            </a:pPr>
            <a:r>
              <a:rPr lang="en-US" sz="3200" b="1" dirty="0">
                <a:solidFill>
                  <a:schemeClr val="tx2"/>
                </a:solidFill>
              </a:rPr>
              <a:t>What a salesperson sees, standing in the shop</a:t>
            </a:r>
            <a:endParaRPr lang="en-US" sz="3200" dirty="0"/>
          </a:p>
        </p:txBody>
      </p:sp>
      <p:sp>
        <p:nvSpPr>
          <p:cNvPr id="3" name="Text 0"/>
          <p:cNvSpPr/>
          <p:nvPr>
            <p:ph idx="101" type="body" hasCustomPrompt="1"/>
          </p:nvPr>
        </p:nvSpPr>
        <p:spPr>
          <a:xfrm>
            <a:off x="548640" y="1024128"/>
            <a:ext cx="11094415" cy="365760"/>
          </a:xfrm>
          <a:prstGeom prst="rect">
            <a:avLst/>
          </a:prstGeom>
          <a:noFill/>
          <a:ln/>
        </p:spPr>
        <p:txBody>
          <a:bodyPr wrap="square" lIns="0" tIns="0" rIns="0" bIns="0" rtlCol="0" anchor="t"/>
          <a:lstStyle/>
          <a:p>
            <a:pPr algn="l" indent="0" marL="0">
              <a:buNone/>
            </a:pPr>
            <a:r>
              <a:rPr lang="en-US" sz="1600" dirty="0">
                <a:solidFill>
                  <a:schemeClr val="accent1"/>
                </a:solidFill>
              </a:rPr>
              <a:t>业务员手机画面（真实应用，示例数据）</a:t>
            </a:r>
            <a:endParaRPr lang="en-US" sz="1600" dirty="0"/>
          </a:p>
        </p:txBody>
      </p:sp>
      <p:pic>
        <p:nvPicPr>
          <p:cNvPr id="4" name="1  Price lookup 查价" descr="/home/user/SKKROICalculator/pricing-app/docs/deck/img/sp-lookup.png">    </p:cNvPr>
          <p:cNvPicPr>
            <a:picLocks noChangeAspect="1"/>
          </p:cNvPicPr>
          <p:nvPr/>
        </p:nvPicPr>
        <p:blipFill>
          <a:blip r:embed="rId1"/>
          <a:stretch>
            <a:fillRect/>
          </a:stretch>
        </p:blipFill>
        <p:spPr>
          <a:xfrm>
            <a:off x="1250137" y="1572768"/>
            <a:ext cx="2112264" cy="3520440"/>
          </a:xfrm>
          <a:prstGeom prst="rect">
            <a:avLst/>
          </a:prstGeom>
          <a:effectLst>
            <a:outerShdw sx="100000" sy="100000" kx="0" ky="0" algn="bl" rotWithShape="0" blurRad="101600" dist="38100" dir="5400000">
              <a:srgbClr val="000000">
                <a:alpha val="18000"/>
              </a:srgbClr>
            </a:outerShdw>
          </a:effectLst>
        </p:spPr>
      </p:pic>
      <p:sp>
        <p:nvSpPr>
          <p:cNvPr id="5" name="Text 2"/>
          <p:cNvSpPr txBox="1"/>
          <p:nvPr/>
        </p:nvSpPr>
        <p:spPr>
          <a:xfrm>
            <a:off x="548640" y="5230368"/>
            <a:ext cx="3515258" cy="868680"/>
          </a:xfrm>
          <a:prstGeom prst="rect">
            <a:avLst/>
          </a:prstGeom>
          <a:noFill/>
          <a:ln/>
        </p:spPr>
        <p:txBody>
          <a:bodyPr wrap="square" lIns="0" tIns="0" rIns="0" bIns="0" rtlCol="0" anchor="t"/>
          <a:lstStyle/>
          <a:p>
            <a:pPr algn="ctr" indent="0" marL="0">
              <a:buNone/>
            </a:pPr>
            <a:r>
              <a:rPr lang="en-US" sz="1500" b="1" dirty="0">
                <a:solidFill>
                  <a:schemeClr val="tx2"/>
                </a:solidFill>
              </a:rPr>
              <a:t>1  Price lookup 查价</a:t>
            </a:r>
            <a:endParaRPr lang="en-US" sz="1500" dirty="0"/>
          </a:p>
          <a:p>
            <a:pPr algn="ctr" indent="0" marL="0">
              <a:buNone/>
            </a:pPr>
            <a:r>
              <a:rPr lang="en-US" sz="1300" dirty="0">
                <a:solidFill>
                  <a:schemeClr val="tx1"/>
                </a:solidFill>
              </a:rPr>
              <a:t>List and floor price for this customer's tier. Works with no signal.</a:t>
            </a:r>
            <a:endParaRPr lang="en-US" sz="1500" dirty="0"/>
          </a:p>
        </p:txBody>
      </p:sp>
      <p:pic>
        <p:nvPicPr>
          <p:cNvPr id="6" name="2  Visit prep 拜访准备" descr="/home/user/SKKROICalculator/pricing-app/docs/deck/img/sp-visit.png">    </p:cNvPr>
          <p:cNvPicPr>
            <a:picLocks noChangeAspect="1"/>
          </p:cNvPicPr>
          <p:nvPr/>
        </p:nvPicPr>
        <p:blipFill>
          <a:blip r:embed="rId2"/>
          <a:stretch>
            <a:fillRect/>
          </a:stretch>
        </p:blipFill>
        <p:spPr>
          <a:xfrm>
            <a:off x="5039716" y="1572768"/>
            <a:ext cx="2112264" cy="3520440"/>
          </a:xfrm>
          <a:prstGeom prst="rect">
            <a:avLst/>
          </a:prstGeom>
          <a:effectLst>
            <a:outerShdw sx="100000" sy="100000" kx="0" ky="0" algn="bl" rotWithShape="0" blurRad="101600" dist="38100" dir="5400000">
              <a:srgbClr val="000000">
                <a:alpha val="18000"/>
              </a:srgbClr>
            </a:outerShdw>
          </a:effectLst>
        </p:spPr>
      </p:pic>
      <p:sp>
        <p:nvSpPr>
          <p:cNvPr id="7" name="Text 3"/>
          <p:cNvSpPr txBox="1"/>
          <p:nvPr/>
        </p:nvSpPr>
        <p:spPr>
          <a:xfrm>
            <a:off x="4338218" y="5230368"/>
            <a:ext cx="3515258" cy="868680"/>
          </a:xfrm>
          <a:prstGeom prst="rect">
            <a:avLst/>
          </a:prstGeom>
          <a:noFill/>
          <a:ln/>
        </p:spPr>
        <p:txBody>
          <a:bodyPr wrap="square" lIns="0" tIns="0" rIns="0" bIns="0" rtlCol="0" anchor="t"/>
          <a:lstStyle/>
          <a:p>
            <a:pPr algn="ctr" indent="0" marL="0">
              <a:buNone/>
            </a:pPr>
            <a:r>
              <a:rPr lang="en-US" sz="1500" b="1" dirty="0">
                <a:solidFill>
                  <a:schemeClr val="tx2"/>
                </a:solidFill>
              </a:rPr>
              <a:t>2  Visit prep 拜访准备</a:t>
            </a:r>
            <a:endParaRPr lang="en-US" sz="1500" dirty="0"/>
          </a:p>
          <a:p>
            <a:pPr algn="ctr" indent="0" marL="0">
              <a:buNone/>
            </a:pPr>
            <a:r>
              <a:rPr lang="en-US" sz="1300" dirty="0">
                <a:solidFill>
                  <a:schemeClr val="tx1"/>
                </a:solidFill>
              </a:rPr>
              <a:t>What similar shops buy that this one doesn't, with an opening question.</a:t>
            </a:r>
            <a:endParaRPr lang="en-US" sz="1500" dirty="0"/>
          </a:p>
        </p:txBody>
      </p:sp>
      <p:pic>
        <p:nvPicPr>
          <p:cNvPr id="8" name="3  Competitor capture 记录竞争价" descr="/home/user/SKKROICalculator/pricing-app/docs/deck/img/sp-capture.png">    </p:cNvPr>
          <p:cNvPicPr>
            <a:picLocks noChangeAspect="1"/>
          </p:cNvPicPr>
          <p:nvPr/>
        </p:nvPicPr>
        <p:blipFill>
          <a:blip r:embed="rId3"/>
          <a:stretch>
            <a:fillRect/>
          </a:stretch>
        </p:blipFill>
        <p:spPr>
          <a:xfrm>
            <a:off x="8829294" y="1572768"/>
            <a:ext cx="2112264" cy="3520440"/>
          </a:xfrm>
          <a:prstGeom prst="rect">
            <a:avLst/>
          </a:prstGeom>
          <a:effectLst>
            <a:outerShdw sx="100000" sy="100000" kx="0" ky="0" algn="bl" rotWithShape="0" blurRad="101600" dist="38100" dir="5400000">
              <a:srgbClr val="000000">
                <a:alpha val="18000"/>
              </a:srgbClr>
            </a:outerShdw>
          </a:effectLst>
        </p:spPr>
      </p:pic>
      <p:sp>
        <p:nvSpPr>
          <p:cNvPr id="9" name="Text 4"/>
          <p:cNvSpPr txBox="1"/>
          <p:nvPr/>
        </p:nvSpPr>
        <p:spPr>
          <a:xfrm>
            <a:off x="8127797" y="5230368"/>
            <a:ext cx="3515258" cy="868680"/>
          </a:xfrm>
          <a:prstGeom prst="rect">
            <a:avLst/>
          </a:prstGeom>
          <a:noFill/>
          <a:ln/>
        </p:spPr>
        <p:txBody>
          <a:bodyPr wrap="square" lIns="0" tIns="0" rIns="0" bIns="0" rtlCol="0" anchor="t"/>
          <a:lstStyle/>
          <a:p>
            <a:pPr algn="ctr" indent="0" marL="0">
              <a:buNone/>
            </a:pPr>
            <a:r>
              <a:rPr lang="en-US" sz="1500" b="1" dirty="0">
                <a:solidFill>
                  <a:schemeClr val="tx2"/>
                </a:solidFill>
              </a:rPr>
              <a:t>3  Competitor capture 记录竞争价</a:t>
            </a:r>
            <a:endParaRPr lang="en-US" sz="1500" dirty="0"/>
          </a:p>
          <a:p>
            <a:pPr algn="ctr" indent="0" marL="0">
              <a:buNone/>
            </a:pPr>
            <a:r>
              <a:rPr lang="en-US" sz="1300" dirty="0">
                <a:solidFill>
                  <a:schemeClr val="tx1"/>
                </a:solidFill>
              </a:rPr>
              <a:t>Customer, product, their price, save. Queued offline, synced later.</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b">
            <a:normAutofit/>
          </a:bodyPr>
          <a:lstStyle/>
          <a:p>
            <a:pPr algn="l" indent="0" marL="0">
              <a:buNone/>
            </a:pPr>
            <a:r>
              <a:rPr lang="en-US" sz="3200" b="1" dirty="0">
                <a:solidFill>
                  <a:schemeClr val="tx2"/>
                </a:solidFill>
              </a:rPr>
              <a:t>What owner and finance see</a:t>
            </a:r>
            <a:endParaRPr lang="en-US" sz="3200" dirty="0"/>
          </a:p>
        </p:txBody>
      </p:sp>
      <p:sp>
        <p:nvSpPr>
          <p:cNvPr id="3" name="Text 0"/>
          <p:cNvSpPr/>
          <p:nvPr>
            <p:ph idx="101" type="body" hasCustomPrompt="1"/>
          </p:nvPr>
        </p:nvSpPr>
        <p:spPr>
          <a:xfrm>
            <a:off x="548640" y="1024128"/>
            <a:ext cx="11094415" cy="365760"/>
          </a:xfrm>
          <a:prstGeom prst="rect">
            <a:avLst/>
          </a:prstGeom>
          <a:noFill/>
          <a:ln/>
        </p:spPr>
        <p:txBody>
          <a:bodyPr wrap="square" lIns="0" tIns="0" rIns="0" bIns="0" rtlCol="0" anchor="t"/>
          <a:lstStyle/>
          <a:p>
            <a:pPr algn="l" indent="0" marL="0">
              <a:buNone/>
            </a:pPr>
            <a:r>
              <a:rPr lang="en-US" sz="1600" dirty="0">
                <a:solidFill>
                  <a:schemeClr val="accent1"/>
                </a:solidFill>
              </a:rPr>
              <a:t>老板与财务画面（真实应用，示例数据）</a:t>
            </a:r>
            <a:endParaRPr lang="en-US" sz="1600" dirty="0"/>
          </a:p>
        </p:txBody>
      </p:sp>
      <p:pic>
        <p:nvPicPr>
          <p:cNvPr id="4" name="UOM reconciliation screen" descr="/home/user/SKKROICalculator/pricing-app/docs/deck/img/owner-uom.png">    </p:cNvPr>
          <p:cNvPicPr>
            <a:picLocks noChangeAspect="1"/>
          </p:cNvPicPr>
          <p:nvPr/>
        </p:nvPicPr>
        <p:blipFill>
          <a:blip r:embed="rId1"/>
          <a:stretch>
            <a:fillRect/>
          </a:stretch>
        </p:blipFill>
        <p:spPr>
          <a:xfrm>
            <a:off x="548640" y="1600200"/>
            <a:ext cx="5989320" cy="3595683"/>
          </a:xfrm>
          <a:prstGeom prst="rect">
            <a:avLst/>
          </a:prstGeom>
          <a:effectLst>
            <a:outerShdw sx="100000" sy="100000" kx="0" ky="0" algn="bl" rotWithShape="0" blurRad="101600" dist="38100" dir="5400000">
              <a:srgbClr val="000000">
                <a:alpha val="18000"/>
              </a:srgbClr>
            </a:outerShdw>
          </a:effectLst>
        </p:spPr>
      </p:pic>
      <p:pic>
        <p:nvPicPr>
          <p:cNvPr id="5" name="Price intelligence screen" descr="/home/user/SKKROICalculator/pricing-app/docs/deck/img/owner-intel.png">    </p:cNvPr>
          <p:cNvPicPr>
            <a:picLocks noChangeAspect="1"/>
          </p:cNvPicPr>
          <p:nvPr/>
        </p:nvPicPr>
        <p:blipFill>
          <a:blip r:embed="rId2"/>
          <a:stretch>
            <a:fillRect/>
          </a:stretch>
        </p:blipFill>
        <p:spPr>
          <a:xfrm>
            <a:off x="7040582" y="1600200"/>
            <a:ext cx="4602474" cy="3595683"/>
          </a:xfrm>
          <a:prstGeom prst="rect">
            <a:avLst/>
          </a:prstGeom>
          <a:effectLst>
            <a:outerShdw sx="100000" sy="100000" kx="0" ky="0" algn="bl" rotWithShape="0" blurRad="101600" dist="38100" dir="5400000">
              <a:srgbClr val="000000">
                <a:alpha val="18000"/>
              </a:srgbClr>
            </a:outerShdw>
          </a:effectLst>
        </p:spPr>
      </p:pic>
      <p:sp>
        <p:nvSpPr>
          <p:cNvPr id="6" name="Text 2"/>
          <p:cNvSpPr txBox="1"/>
          <p:nvPr/>
        </p:nvSpPr>
        <p:spPr>
          <a:xfrm>
            <a:off x="548640" y="5424483"/>
            <a:ext cx="5989320" cy="868680"/>
          </a:xfrm>
          <a:prstGeom prst="rect">
            <a:avLst/>
          </a:prstGeom>
          <a:noFill/>
          <a:ln/>
        </p:spPr>
        <p:txBody>
          <a:bodyPr wrap="square" lIns="0" tIns="0" rIns="0" bIns="0" rtlCol="0" anchor="t"/>
          <a:lstStyle/>
          <a:p>
            <a:pPr indent="0" marL="0">
              <a:buNone/>
            </a:pPr>
            <a:r>
              <a:rPr lang="en-US" sz="1500" b="1" dirty="0">
                <a:solidFill>
                  <a:schemeClr val="tx2"/>
                </a:solidFill>
              </a:rPr>
              <a:t>UOM reconciliation 单位核对</a:t>
            </a:r>
            <a:endParaRPr lang="en-US" sz="1500" dirty="0"/>
          </a:p>
          <a:p>
            <a:pPr indent="0" marL="0">
              <a:buNone/>
            </a:pPr>
            <a:r>
              <a:rPr lang="en-US" sz="1300" dirty="0">
                <a:solidFill>
                  <a:schemeClr val="tx1"/>
                </a:solidFill>
              </a:rPr>
              <a:t>Evidence from UBS on the left; finance enters unit, factor and verified cost. Progress tracked against the core SKUs.</a:t>
            </a:r>
            <a:endParaRPr lang="en-US" sz="1500" dirty="0"/>
          </a:p>
        </p:txBody>
      </p:sp>
      <p:sp>
        <p:nvSpPr>
          <p:cNvPr id="7" name="Text 3"/>
          <p:cNvSpPr txBox="1"/>
          <p:nvPr/>
        </p:nvSpPr>
        <p:spPr>
          <a:xfrm>
            <a:off x="7040582" y="5424483"/>
            <a:ext cx="4602474" cy="868680"/>
          </a:xfrm>
          <a:prstGeom prst="rect">
            <a:avLst/>
          </a:prstGeom>
          <a:noFill/>
          <a:ln/>
        </p:spPr>
        <p:txBody>
          <a:bodyPr wrap="square" lIns="0" tIns="0" rIns="0" bIns="0" rtlCol="0" anchor="t"/>
          <a:lstStyle/>
          <a:p>
            <a:pPr indent="0" marL="0">
              <a:buNone/>
            </a:pPr>
            <a:r>
              <a:rPr lang="en-US" sz="1500" b="1" dirty="0">
                <a:solidFill>
                  <a:schemeClr val="tx2"/>
                </a:solidFill>
              </a:rPr>
              <a:t>Price intelligence 价格情报</a:t>
            </a:r>
            <a:endParaRPr lang="en-US" sz="1500" dirty="0"/>
          </a:p>
          <a:p>
            <a:pPr indent="0" marL="0">
              <a:buNone/>
            </a:pPr>
            <a:r>
              <a:rPr lang="en-US" sz="1300" dirty="0">
                <a:solidFill>
                  <a:schemeClr val="tx1"/>
                </a:solidFill>
              </a:rPr>
              <a:t>Our list and floor against every competitor price captured (green won, red lost, blue quoted).</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b">
            <a:normAutofit/>
          </a:bodyPr>
          <a:lstStyle/>
          <a:p>
            <a:pPr algn="l" indent="0" marL="0">
              <a:buNone/>
            </a:pPr>
            <a:r>
              <a:rPr lang="en-US" sz="3200" b="1" dirty="0">
                <a:solidFill>
                  <a:schemeClr val="tx2"/>
                </a:solidFill>
              </a:rPr>
              <a:t>Rules the system enforces, not just promises</a:t>
            </a:r>
            <a:endParaRPr lang="en-US" sz="3200" dirty="0"/>
          </a:p>
        </p:txBody>
      </p:sp>
      <p:sp>
        <p:nvSpPr>
          <p:cNvPr id="3" name="Text 0"/>
          <p:cNvSpPr/>
          <p:nvPr>
            <p:ph idx="101" type="body" hasCustomPrompt="1"/>
          </p:nvPr>
        </p:nvSpPr>
        <p:spPr>
          <a:xfrm>
            <a:off x="548640" y="1024128"/>
            <a:ext cx="11094415" cy="365760"/>
          </a:xfrm>
          <a:prstGeom prst="rect">
            <a:avLst/>
          </a:prstGeom>
          <a:noFill/>
          <a:ln/>
        </p:spPr>
        <p:txBody>
          <a:bodyPr wrap="square" lIns="0" tIns="0" rIns="0" bIns="0" rtlCol="0" anchor="t"/>
          <a:lstStyle/>
          <a:p>
            <a:pPr algn="l" indent="0" marL="0">
              <a:buNone/>
            </a:pPr>
            <a:r>
              <a:rPr lang="en-US" sz="1600" dirty="0">
                <a:solidFill>
                  <a:schemeClr val="accent1"/>
                </a:solidFill>
              </a:rPr>
              <a:t>系统强制执行的规则</a:t>
            </a:r>
            <a:endParaRPr lang="en-US" sz="1600" dirty="0"/>
          </a:p>
        </p:txBody>
      </p:sp>
      <p:sp>
        <p:nvSpPr>
          <p:cNvPr id="4" name="Salespeople never see cost or margin"/>
          <p:cNvSpPr/>
          <p:nvPr/>
        </p:nvSpPr>
        <p:spPr>
          <a:xfrm>
            <a:off x="548640" y="1691640"/>
            <a:ext cx="3515258" cy="1965960"/>
          </a:xfrm>
          <a:prstGeom prst="roundRect">
            <a:avLst>
              <a:gd name="adj" fmla="val 5581"/>
            </a:avLst>
          </a:prstGeom>
          <a:solidFill>
            <a:schemeClr val="bg2"/>
          </a:solidFill>
          <a:ln w="12700">
            <a:solidFill>
              <a:schemeClr val="bg2"/>
            </a:solidFill>
            <a:prstDash val="solid"/>
          </a:ln>
        </p:spPr>
      </p:sp>
      <p:sp>
        <p:nvSpPr>
          <p:cNvPr id="5" name="Salespeople never see cost or margin icon circle"/>
          <p:cNvSpPr/>
          <p:nvPr/>
        </p:nvSpPr>
        <p:spPr>
          <a:xfrm>
            <a:off x="822960" y="1965960"/>
            <a:ext cx="530352" cy="530352"/>
          </a:xfrm>
          <a:prstGeom prst="ellipse">
            <a:avLst/>
          </a:prstGeom>
          <a:solidFill>
            <a:schemeClr val="accent1"/>
          </a:solidFill>
          <a:ln w="12700">
            <a:solidFill>
              <a:schemeClr val="accent1"/>
            </a:solidFill>
            <a:prstDash val="solid"/>
          </a:ln>
        </p:spPr>
      </p:sp>
      <p:pic>
        <p:nvPicPr>
          <p:cNvPr id="6" name="Salespeople never see cost or margin icon" descr="preencoded.png">    </p:cNvPr>
          <p:cNvPicPr>
            <a:picLocks noChangeAspect="1"/>
          </p:cNvPicPr>
          <p:nvPr/>
        </p:nvPicPr>
        <p:blipFill>
          <a:blip r:embed="rId1"/>
          <a:stretch>
            <a:fillRect/>
          </a:stretch>
        </p:blipFill>
        <p:spPr>
          <a:xfrm>
            <a:off x="950244" y="2093244"/>
            <a:ext cx="275783" cy="275783"/>
          </a:xfrm>
          <a:prstGeom prst="rect">
            <a:avLst/>
          </a:prstGeom>
        </p:spPr>
      </p:pic>
      <p:sp>
        <p:nvSpPr>
          <p:cNvPr id="7" name="Text 4"/>
          <p:cNvSpPr txBox="1"/>
          <p:nvPr/>
        </p:nvSpPr>
        <p:spPr>
          <a:xfrm>
            <a:off x="822960" y="2606040"/>
            <a:ext cx="2966618" cy="960120"/>
          </a:xfrm>
          <a:prstGeom prst="rect">
            <a:avLst/>
          </a:prstGeom>
          <a:noFill/>
          <a:ln/>
        </p:spPr>
        <p:txBody>
          <a:bodyPr wrap="square" lIns="0" tIns="0" rIns="0" bIns="0" rtlCol="0" anchor="t"/>
          <a:lstStyle/>
          <a:p>
            <a:pPr indent="0" marL="0">
              <a:buNone/>
            </a:pPr>
            <a:r>
              <a:rPr lang="en-US" sz="1600" b="1" dirty="0">
                <a:solidFill>
                  <a:schemeClr val="tx2"/>
                </a:solidFill>
              </a:rPr>
              <a:t>Salespeople never see cost or margin</a:t>
            </a:r>
            <a:endParaRPr lang="en-US" sz="1600" dirty="0"/>
          </a:p>
          <a:p>
            <a:pPr indent="0" marL="0">
              <a:buNone/>
            </a:pPr>
            <a:r>
              <a:rPr lang="en-US" sz="1400" dirty="0">
                <a:solidFill>
                  <a:schemeClr val="tx1"/>
                </a:solidFill>
              </a:rPr>
              <a:t>Enforced on the server, not just hidden on screen. The owner can switch it.</a:t>
            </a:r>
            <a:endParaRPr lang="en-US" sz="1600" dirty="0"/>
          </a:p>
        </p:txBody>
      </p:sp>
      <p:sp>
        <p:nvSpPr>
          <p:cNvPr id="8" name="No margin from unverified cost"/>
          <p:cNvSpPr/>
          <p:nvPr/>
        </p:nvSpPr>
        <p:spPr>
          <a:xfrm>
            <a:off x="4338218" y="1691640"/>
            <a:ext cx="3515258" cy="1965960"/>
          </a:xfrm>
          <a:prstGeom prst="roundRect">
            <a:avLst>
              <a:gd name="adj" fmla="val 5581"/>
            </a:avLst>
          </a:prstGeom>
          <a:solidFill>
            <a:schemeClr val="bg2"/>
          </a:solidFill>
          <a:ln w="12700">
            <a:solidFill>
              <a:schemeClr val="bg2"/>
            </a:solidFill>
            <a:prstDash val="solid"/>
          </a:ln>
        </p:spPr>
      </p:sp>
      <p:sp>
        <p:nvSpPr>
          <p:cNvPr id="9" name="No margin from unverified cost icon circle"/>
          <p:cNvSpPr/>
          <p:nvPr/>
        </p:nvSpPr>
        <p:spPr>
          <a:xfrm>
            <a:off x="4612538" y="1965960"/>
            <a:ext cx="530352" cy="530352"/>
          </a:xfrm>
          <a:prstGeom prst="ellipse">
            <a:avLst/>
          </a:prstGeom>
          <a:solidFill>
            <a:schemeClr val="accent1"/>
          </a:solidFill>
          <a:ln w="12700">
            <a:solidFill>
              <a:schemeClr val="accent1"/>
            </a:solidFill>
            <a:prstDash val="solid"/>
          </a:ln>
        </p:spPr>
      </p:sp>
      <p:pic>
        <p:nvPicPr>
          <p:cNvPr id="10" name="No margin from unverified cost icon" descr="preencoded.png">    </p:cNvPr>
          <p:cNvPicPr>
            <a:picLocks noChangeAspect="1"/>
          </p:cNvPicPr>
          <p:nvPr/>
        </p:nvPicPr>
        <p:blipFill>
          <a:blip r:embed="rId2"/>
          <a:stretch>
            <a:fillRect/>
          </a:stretch>
        </p:blipFill>
        <p:spPr>
          <a:xfrm>
            <a:off x="4739823" y="2093244"/>
            <a:ext cx="275783" cy="275783"/>
          </a:xfrm>
          <a:prstGeom prst="rect">
            <a:avLst/>
          </a:prstGeom>
        </p:spPr>
      </p:pic>
      <p:sp>
        <p:nvSpPr>
          <p:cNvPr id="11" name="Text 7"/>
          <p:cNvSpPr txBox="1"/>
          <p:nvPr/>
        </p:nvSpPr>
        <p:spPr>
          <a:xfrm>
            <a:off x="4612538" y="2606040"/>
            <a:ext cx="2966618" cy="960120"/>
          </a:xfrm>
          <a:prstGeom prst="rect">
            <a:avLst/>
          </a:prstGeom>
          <a:noFill/>
          <a:ln/>
        </p:spPr>
        <p:txBody>
          <a:bodyPr wrap="square" lIns="0" tIns="0" rIns="0" bIns="0" rtlCol="0" anchor="t"/>
          <a:lstStyle/>
          <a:p>
            <a:pPr indent="0" marL="0">
              <a:buNone/>
            </a:pPr>
            <a:r>
              <a:rPr lang="en-US" sz="1600" b="1" dirty="0">
                <a:solidFill>
                  <a:schemeClr val="tx2"/>
                </a:solidFill>
              </a:rPr>
              <a:t>No margin from unverified cost</a:t>
            </a:r>
            <a:endParaRPr lang="en-US" sz="1600" dirty="0"/>
          </a:p>
          <a:p>
            <a:pPr indent="0" marL="0">
              <a:buNone/>
            </a:pPr>
            <a:r>
              <a:rPr lang="en-US" sz="1400" dirty="0">
                <a:solidFill>
                  <a:schemeClr val="tx1"/>
                </a:solidFill>
              </a:rPr>
              <a:t>Shows 成本待核实 instead of a wrong number.</a:t>
            </a:r>
            <a:endParaRPr lang="en-US" sz="1600" dirty="0"/>
          </a:p>
        </p:txBody>
      </p:sp>
      <p:sp>
        <p:nvSpPr>
          <p:cNvPr id="12" name="Price history kept forever"/>
          <p:cNvSpPr/>
          <p:nvPr/>
        </p:nvSpPr>
        <p:spPr>
          <a:xfrm>
            <a:off x="8127797" y="1691640"/>
            <a:ext cx="3515258" cy="1965960"/>
          </a:xfrm>
          <a:prstGeom prst="roundRect">
            <a:avLst>
              <a:gd name="adj" fmla="val 5581"/>
            </a:avLst>
          </a:prstGeom>
          <a:solidFill>
            <a:schemeClr val="bg2"/>
          </a:solidFill>
          <a:ln w="12700">
            <a:solidFill>
              <a:schemeClr val="bg2"/>
            </a:solidFill>
            <a:prstDash val="solid"/>
          </a:ln>
        </p:spPr>
      </p:sp>
      <p:sp>
        <p:nvSpPr>
          <p:cNvPr id="13" name="Price history kept forever icon circle"/>
          <p:cNvSpPr/>
          <p:nvPr/>
        </p:nvSpPr>
        <p:spPr>
          <a:xfrm>
            <a:off x="8402117" y="1965960"/>
            <a:ext cx="530352" cy="530352"/>
          </a:xfrm>
          <a:prstGeom prst="ellipse">
            <a:avLst/>
          </a:prstGeom>
          <a:solidFill>
            <a:schemeClr val="accent1"/>
          </a:solidFill>
          <a:ln w="12700">
            <a:solidFill>
              <a:schemeClr val="accent1"/>
            </a:solidFill>
            <a:prstDash val="solid"/>
          </a:ln>
        </p:spPr>
      </p:sp>
      <p:pic>
        <p:nvPicPr>
          <p:cNvPr id="14" name="Price history kept forever icon" descr="preencoded.png">    </p:cNvPr>
          <p:cNvPicPr>
            <a:picLocks noChangeAspect="1"/>
          </p:cNvPicPr>
          <p:nvPr/>
        </p:nvPicPr>
        <p:blipFill>
          <a:blip r:embed="rId3"/>
          <a:stretch>
            <a:fillRect/>
          </a:stretch>
        </p:blipFill>
        <p:spPr>
          <a:xfrm>
            <a:off x="8529401" y="2093244"/>
            <a:ext cx="275783" cy="275783"/>
          </a:xfrm>
          <a:prstGeom prst="rect">
            <a:avLst/>
          </a:prstGeom>
        </p:spPr>
      </p:pic>
      <p:sp>
        <p:nvSpPr>
          <p:cNvPr id="15" name="Text 10"/>
          <p:cNvSpPr txBox="1"/>
          <p:nvPr/>
        </p:nvSpPr>
        <p:spPr>
          <a:xfrm>
            <a:off x="8402117" y="2606040"/>
            <a:ext cx="2966618" cy="960120"/>
          </a:xfrm>
          <a:prstGeom prst="rect">
            <a:avLst/>
          </a:prstGeom>
          <a:noFill/>
          <a:ln/>
        </p:spPr>
        <p:txBody>
          <a:bodyPr wrap="square" lIns="0" tIns="0" rIns="0" bIns="0" rtlCol="0" anchor="t"/>
          <a:lstStyle/>
          <a:p>
            <a:pPr indent="0" marL="0">
              <a:buNone/>
            </a:pPr>
            <a:r>
              <a:rPr lang="en-US" sz="1600" b="1" dirty="0">
                <a:solidFill>
                  <a:schemeClr val="tx2"/>
                </a:solidFill>
              </a:rPr>
              <a:t>Price history kept forever</a:t>
            </a:r>
            <a:endParaRPr lang="en-US" sz="1600" dirty="0"/>
          </a:p>
          <a:p>
            <a:pPr indent="0" marL="0">
              <a:buNone/>
            </a:pPr>
            <a:r>
              <a:rPr lang="en-US" sz="1400" dirty="0">
                <a:solidFill>
                  <a:schemeClr val="tx1"/>
                </a:solidFill>
              </a:rPr>
              <a:t>"What were we charging in March?" has an answer.</a:t>
            </a:r>
            <a:endParaRPr lang="en-US" sz="1600" dirty="0"/>
          </a:p>
        </p:txBody>
      </p:sp>
      <p:sp>
        <p:nvSpPr>
          <p:cNvPr id="16" name="Every change is attributed"/>
          <p:cNvSpPr/>
          <p:nvPr/>
        </p:nvSpPr>
        <p:spPr>
          <a:xfrm>
            <a:off x="548640" y="3931920"/>
            <a:ext cx="3515258" cy="1965960"/>
          </a:xfrm>
          <a:prstGeom prst="roundRect">
            <a:avLst>
              <a:gd name="adj" fmla="val 5581"/>
            </a:avLst>
          </a:prstGeom>
          <a:solidFill>
            <a:schemeClr val="bg2"/>
          </a:solidFill>
          <a:ln w="12700">
            <a:solidFill>
              <a:schemeClr val="bg2"/>
            </a:solidFill>
            <a:prstDash val="solid"/>
          </a:ln>
        </p:spPr>
      </p:sp>
      <p:sp>
        <p:nvSpPr>
          <p:cNvPr id="17" name="Every change is attributed icon circle"/>
          <p:cNvSpPr/>
          <p:nvPr/>
        </p:nvSpPr>
        <p:spPr>
          <a:xfrm>
            <a:off x="822960" y="4206240"/>
            <a:ext cx="530352" cy="530352"/>
          </a:xfrm>
          <a:prstGeom prst="ellipse">
            <a:avLst/>
          </a:prstGeom>
          <a:solidFill>
            <a:schemeClr val="accent1"/>
          </a:solidFill>
          <a:ln w="12700">
            <a:solidFill>
              <a:schemeClr val="accent1"/>
            </a:solidFill>
            <a:prstDash val="solid"/>
          </a:ln>
        </p:spPr>
      </p:sp>
      <p:pic>
        <p:nvPicPr>
          <p:cNvPr id="18" name="Every change is attributed icon" descr="preencoded.png">    </p:cNvPr>
          <p:cNvPicPr>
            <a:picLocks noChangeAspect="1"/>
          </p:cNvPicPr>
          <p:nvPr/>
        </p:nvPicPr>
        <p:blipFill>
          <a:blip r:embed="rId4"/>
          <a:stretch>
            <a:fillRect/>
          </a:stretch>
        </p:blipFill>
        <p:spPr>
          <a:xfrm>
            <a:off x="950244" y="4333524"/>
            <a:ext cx="275783" cy="275783"/>
          </a:xfrm>
          <a:prstGeom prst="rect">
            <a:avLst/>
          </a:prstGeom>
        </p:spPr>
      </p:pic>
      <p:sp>
        <p:nvSpPr>
          <p:cNvPr id="19" name="Text 13"/>
          <p:cNvSpPr txBox="1"/>
          <p:nvPr/>
        </p:nvSpPr>
        <p:spPr>
          <a:xfrm>
            <a:off x="822960" y="4846320"/>
            <a:ext cx="2966618" cy="960120"/>
          </a:xfrm>
          <a:prstGeom prst="rect">
            <a:avLst/>
          </a:prstGeom>
          <a:noFill/>
          <a:ln/>
        </p:spPr>
        <p:txBody>
          <a:bodyPr wrap="square" lIns="0" tIns="0" rIns="0" bIns="0" rtlCol="0" anchor="t"/>
          <a:lstStyle/>
          <a:p>
            <a:pPr indent="0" marL="0">
              <a:buNone/>
            </a:pPr>
            <a:r>
              <a:rPr lang="en-US" sz="1600" b="1" dirty="0">
                <a:solidFill>
                  <a:schemeClr val="tx2"/>
                </a:solidFill>
              </a:rPr>
              <a:t>Every change is attributed</a:t>
            </a:r>
            <a:endParaRPr lang="en-US" sz="1600" dirty="0"/>
          </a:p>
          <a:p>
            <a:pPr indent="0" marL="0">
              <a:buNone/>
            </a:pPr>
            <a:r>
              <a:rPr lang="en-US" sz="1400" dirty="0">
                <a:solidFill>
                  <a:schemeClr val="tx1"/>
                </a:solidFill>
              </a:rPr>
              <a:t>Who changed what, when, old value and new value.</a:t>
            </a:r>
            <a:endParaRPr lang="en-US" sz="1600" dirty="0"/>
          </a:p>
        </p:txBody>
      </p:sp>
      <p:sp>
        <p:nvSpPr>
          <p:cNvPr id="20" name="Works with no signal"/>
          <p:cNvSpPr/>
          <p:nvPr/>
        </p:nvSpPr>
        <p:spPr>
          <a:xfrm>
            <a:off x="4338218" y="3931920"/>
            <a:ext cx="3515258" cy="1965960"/>
          </a:xfrm>
          <a:prstGeom prst="roundRect">
            <a:avLst>
              <a:gd name="adj" fmla="val 5581"/>
            </a:avLst>
          </a:prstGeom>
          <a:solidFill>
            <a:schemeClr val="bg2"/>
          </a:solidFill>
          <a:ln w="12700">
            <a:solidFill>
              <a:schemeClr val="bg2"/>
            </a:solidFill>
            <a:prstDash val="solid"/>
          </a:ln>
        </p:spPr>
      </p:sp>
      <p:sp>
        <p:nvSpPr>
          <p:cNvPr id="21" name="Works with no signal icon circle"/>
          <p:cNvSpPr/>
          <p:nvPr/>
        </p:nvSpPr>
        <p:spPr>
          <a:xfrm>
            <a:off x="4612538" y="4206240"/>
            <a:ext cx="530352" cy="530352"/>
          </a:xfrm>
          <a:prstGeom prst="ellipse">
            <a:avLst/>
          </a:prstGeom>
          <a:solidFill>
            <a:schemeClr val="accent1"/>
          </a:solidFill>
          <a:ln w="12700">
            <a:solidFill>
              <a:schemeClr val="accent1"/>
            </a:solidFill>
            <a:prstDash val="solid"/>
          </a:ln>
        </p:spPr>
      </p:sp>
      <p:pic>
        <p:nvPicPr>
          <p:cNvPr id="22" name="Works with no signal icon" descr="preencoded.png">    </p:cNvPr>
          <p:cNvPicPr>
            <a:picLocks noChangeAspect="1"/>
          </p:cNvPicPr>
          <p:nvPr/>
        </p:nvPicPr>
        <p:blipFill>
          <a:blip r:embed="rId5"/>
          <a:stretch>
            <a:fillRect/>
          </a:stretch>
        </p:blipFill>
        <p:spPr>
          <a:xfrm>
            <a:off x="4739823" y="4333524"/>
            <a:ext cx="275783" cy="275783"/>
          </a:xfrm>
          <a:prstGeom prst="rect">
            <a:avLst/>
          </a:prstGeom>
        </p:spPr>
      </p:pic>
      <p:sp>
        <p:nvSpPr>
          <p:cNvPr id="23" name="Text 16"/>
          <p:cNvSpPr txBox="1"/>
          <p:nvPr/>
        </p:nvSpPr>
        <p:spPr>
          <a:xfrm>
            <a:off x="4612538" y="4846320"/>
            <a:ext cx="2966618" cy="960120"/>
          </a:xfrm>
          <a:prstGeom prst="rect">
            <a:avLst/>
          </a:prstGeom>
          <a:noFill/>
          <a:ln/>
        </p:spPr>
        <p:txBody>
          <a:bodyPr wrap="square" lIns="0" tIns="0" rIns="0" bIns="0" rtlCol="0" anchor="t"/>
          <a:lstStyle/>
          <a:p>
            <a:pPr indent="0" marL="0">
              <a:buNone/>
            </a:pPr>
            <a:r>
              <a:rPr lang="en-US" sz="1600" b="1" dirty="0">
                <a:solidFill>
                  <a:schemeClr val="tx2"/>
                </a:solidFill>
              </a:rPr>
              <a:t>Works with no signal</a:t>
            </a:r>
            <a:endParaRPr lang="en-US" sz="1600" dirty="0"/>
          </a:p>
          <a:p>
            <a:pPr indent="0" marL="0">
              <a:buNone/>
            </a:pPr>
            <a:r>
              <a:rPr lang="en-US" sz="1400" dirty="0">
                <a:solidFill>
                  <a:schemeClr val="tx1"/>
                </a:solidFill>
              </a:rPr>
              <a:t>Lookup and capture work offline and sync automatically.</a:t>
            </a:r>
            <a:endParaRPr lang="en-US" sz="1600" dirty="0"/>
          </a:p>
        </p:txBody>
      </p:sp>
      <p:sp>
        <p:nvSpPr>
          <p:cNvPr id="24" name="Re-importing UBS data is safe"/>
          <p:cNvSpPr/>
          <p:nvPr/>
        </p:nvSpPr>
        <p:spPr>
          <a:xfrm>
            <a:off x="8127797" y="3931920"/>
            <a:ext cx="3515258" cy="1965960"/>
          </a:xfrm>
          <a:prstGeom prst="roundRect">
            <a:avLst>
              <a:gd name="adj" fmla="val 5581"/>
            </a:avLst>
          </a:prstGeom>
          <a:solidFill>
            <a:schemeClr val="bg2"/>
          </a:solidFill>
          <a:ln w="12700">
            <a:solidFill>
              <a:schemeClr val="bg2"/>
            </a:solidFill>
            <a:prstDash val="solid"/>
          </a:ln>
        </p:spPr>
      </p:sp>
      <p:sp>
        <p:nvSpPr>
          <p:cNvPr id="25" name="Re-importing UBS data is safe icon circle"/>
          <p:cNvSpPr/>
          <p:nvPr/>
        </p:nvSpPr>
        <p:spPr>
          <a:xfrm>
            <a:off x="8402117" y="4206240"/>
            <a:ext cx="530352" cy="530352"/>
          </a:xfrm>
          <a:prstGeom prst="ellipse">
            <a:avLst/>
          </a:prstGeom>
          <a:solidFill>
            <a:schemeClr val="accent1"/>
          </a:solidFill>
          <a:ln w="12700">
            <a:solidFill>
              <a:schemeClr val="accent1"/>
            </a:solidFill>
            <a:prstDash val="solid"/>
          </a:ln>
        </p:spPr>
      </p:sp>
      <p:pic>
        <p:nvPicPr>
          <p:cNvPr id="26" name="Re-importing UBS data is safe icon" descr="preencoded.png">    </p:cNvPr>
          <p:cNvPicPr>
            <a:picLocks noChangeAspect="1"/>
          </p:cNvPicPr>
          <p:nvPr/>
        </p:nvPicPr>
        <p:blipFill>
          <a:blip r:embed="rId6"/>
          <a:stretch>
            <a:fillRect/>
          </a:stretch>
        </p:blipFill>
        <p:spPr>
          <a:xfrm>
            <a:off x="8529401" y="4333524"/>
            <a:ext cx="275783" cy="275783"/>
          </a:xfrm>
          <a:prstGeom prst="rect">
            <a:avLst/>
          </a:prstGeom>
        </p:spPr>
      </p:pic>
      <p:sp>
        <p:nvSpPr>
          <p:cNvPr id="27" name="Text 19"/>
          <p:cNvSpPr txBox="1"/>
          <p:nvPr/>
        </p:nvSpPr>
        <p:spPr>
          <a:xfrm>
            <a:off x="8402117" y="4846320"/>
            <a:ext cx="2966618" cy="960120"/>
          </a:xfrm>
          <a:prstGeom prst="rect">
            <a:avLst/>
          </a:prstGeom>
          <a:noFill/>
          <a:ln/>
        </p:spPr>
        <p:txBody>
          <a:bodyPr wrap="square" lIns="0" tIns="0" rIns="0" bIns="0" rtlCol="0" anchor="t"/>
          <a:lstStyle/>
          <a:p>
            <a:pPr indent="0" marL="0">
              <a:buNone/>
            </a:pPr>
            <a:r>
              <a:rPr lang="en-US" sz="1600" b="1" dirty="0">
                <a:solidFill>
                  <a:schemeClr val="tx2"/>
                </a:solidFill>
              </a:rPr>
              <a:t>Re-importing UBS data is safe</a:t>
            </a:r>
            <a:endParaRPr lang="en-US" sz="1600" dirty="0"/>
          </a:p>
          <a:p>
            <a:pPr indent="0" marL="0">
              <a:buNone/>
            </a:pPr>
            <a:r>
              <a:rPr lang="en-US" sz="1400" dirty="0">
                <a:solidFill>
                  <a:schemeClr val="tx1"/>
                </a:solidFill>
              </a:rPr>
              <a:t>The same file twice changes nothing. Entered costs and prices are never overwritten.</a:t>
            </a:r>
            <a:endParaRPr lang="en-US" sz="1600" dirty="0"/>
          </a:p>
        </p:txBody>
      </p:sp>
      <p:sp>
        <p:nvSpPr>
          <p:cNvPr id="28" name="Text 20"/>
          <p:cNvSpPr txBox="1"/>
          <p:nvPr/>
        </p:nvSpPr>
        <p:spPr>
          <a:xfrm>
            <a:off x="548640" y="6035040"/>
            <a:ext cx="11094415" cy="274320"/>
          </a:xfrm>
          <a:prstGeom prst="rect">
            <a:avLst/>
          </a:prstGeom>
          <a:noFill/>
          <a:ln/>
        </p:spPr>
        <p:txBody>
          <a:bodyPr wrap="square" lIns="0" tIns="0" rIns="0" bIns="0" rtlCol="0" anchor="ctr"/>
          <a:lstStyle/>
          <a:p>
            <a:pPr indent="0" marL="0">
              <a:buNone/>
            </a:pPr>
            <a:r>
              <a:rPr lang="en-US" sz="1200" i="1" dirty="0">
                <a:solidFill>
                  <a:schemeClr val="accent5"/>
                </a:solidFill>
              </a:rPr>
              <a:t>The automated test suite run before each deployment covers the first four and the last; offline use was checked in a browser test.</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b">
            <a:normAutofit/>
          </a:bodyPr>
          <a:lstStyle/>
          <a:p>
            <a:pPr algn="l" indent="0" marL="0">
              <a:buNone/>
            </a:pPr>
            <a:r>
              <a:rPr lang="en-US" sz="3200" b="1" dirty="0">
                <a:solidFill>
                  <a:schemeClr val="tx2"/>
                </a:solidFill>
              </a:rPr>
              <a:t>For 78% of sales, the field is our only price source</a:t>
            </a:r>
            <a:endParaRPr lang="en-US" sz="3200" dirty="0"/>
          </a:p>
        </p:txBody>
      </p:sp>
      <p:sp>
        <p:nvSpPr>
          <p:cNvPr id="3" name="Text 0"/>
          <p:cNvSpPr/>
          <p:nvPr>
            <p:ph idx="101" type="body" hasCustomPrompt="1"/>
          </p:nvPr>
        </p:nvSpPr>
        <p:spPr>
          <a:xfrm>
            <a:off x="548640" y="1024128"/>
            <a:ext cx="11094415" cy="365760"/>
          </a:xfrm>
          <a:prstGeom prst="rect">
            <a:avLst/>
          </a:prstGeom>
          <a:noFill/>
          <a:ln/>
        </p:spPr>
        <p:txBody>
          <a:bodyPr wrap="square" lIns="0" tIns="0" rIns="0" bIns="0" rtlCol="0" anchor="t"/>
          <a:lstStyle/>
          <a:p>
            <a:pPr algn="l" indent="0" marL="0">
              <a:buNone/>
            </a:pPr>
            <a:r>
              <a:rPr lang="en-US" sz="1600" dirty="0">
                <a:solidFill>
                  <a:schemeClr val="accent1"/>
                </a:solidFill>
              </a:rPr>
              <a:t>竞争价格：78% 的销售只能靠现场情报</a:t>
            </a:r>
            <a:endParaRPr lang="en-US" sz="1600" dirty="0"/>
          </a:p>
        </p:txBody>
      </p:sp>
      <p:graphicFrame>
        <p:nvGraphicFramePr>
          <p:cNvPr id="4" name="Branded vs commodity share" descr=""/>
          <p:cNvGraphicFramePr/>
          <p:nvPr/>
        </p:nvGraphicFramePr>
        <p:xfrm>
          <a:off x="548640" y="1645920"/>
          <a:ext cx="11094415" cy="1325880"/>
        </p:xfrm>
        <a:graphic xmlns:a="http://schemas.openxmlformats.org/drawingml/2006/main">
          <a:graphicData uri="http://schemas.openxmlformats.org/drawingml/2006/chart">
            <c:chart xmlns:c="http://schemas.openxmlformats.org/drawingml/2006/chart" r:id="rId1"/>
          </a:graphicData>
        </a:graphic>
      </p:graphicFrame>
      <p:sp>
        <p:nvSpPr>
          <p:cNvPr id="5" name="Market reference 市场参考价"/>
          <p:cNvSpPr/>
          <p:nvPr/>
        </p:nvSpPr>
        <p:spPr>
          <a:xfrm>
            <a:off x="548640" y="3246120"/>
            <a:ext cx="5410048" cy="2651760"/>
          </a:xfrm>
          <a:prstGeom prst="roundRect">
            <a:avLst>
              <a:gd name="adj" fmla="val 4138"/>
            </a:avLst>
          </a:prstGeom>
          <a:solidFill>
            <a:schemeClr val="bg2"/>
          </a:solidFill>
          <a:ln w="12700">
            <a:solidFill>
              <a:schemeClr val="bg2"/>
            </a:solidFill>
            <a:prstDash val="solid"/>
          </a:ln>
        </p:spPr>
      </p:sp>
      <p:sp>
        <p:nvSpPr>
          <p:cNvPr id="6" name="Market reference 市场参考价 icon circle"/>
          <p:cNvSpPr/>
          <p:nvPr/>
        </p:nvSpPr>
        <p:spPr>
          <a:xfrm>
            <a:off x="822960" y="3520440"/>
            <a:ext cx="548640" cy="548640"/>
          </a:xfrm>
          <a:prstGeom prst="ellipse">
            <a:avLst/>
          </a:prstGeom>
          <a:solidFill>
            <a:schemeClr val="accent4"/>
          </a:solidFill>
          <a:ln w="12700">
            <a:solidFill>
              <a:schemeClr val="accent4"/>
            </a:solidFill>
            <a:prstDash val="solid"/>
          </a:ln>
        </p:spPr>
      </p:sp>
      <p:pic>
        <p:nvPicPr>
          <p:cNvPr id="7" name="Market reference 市场参考价 icon" descr="preencoded.png">    </p:cNvPr>
          <p:cNvPicPr>
            <a:picLocks noChangeAspect="1"/>
          </p:cNvPicPr>
          <p:nvPr/>
        </p:nvPicPr>
        <p:blipFill>
          <a:blip r:embed="rId2"/>
          <a:stretch>
            <a:fillRect/>
          </a:stretch>
        </p:blipFill>
        <p:spPr>
          <a:xfrm>
            <a:off x="954634" y="3652114"/>
            <a:ext cx="285293" cy="285293"/>
          </a:xfrm>
          <a:prstGeom prst="rect">
            <a:avLst/>
          </a:prstGeom>
        </p:spPr>
      </p:pic>
      <p:sp>
        <p:nvSpPr>
          <p:cNvPr id="8" name="Text 4"/>
          <p:cNvSpPr txBox="1"/>
          <p:nvPr/>
        </p:nvSpPr>
        <p:spPr>
          <a:xfrm>
            <a:off x="1508760" y="3474720"/>
            <a:ext cx="4221328" cy="685800"/>
          </a:xfrm>
          <a:prstGeom prst="rect">
            <a:avLst/>
          </a:prstGeom>
          <a:noFill/>
          <a:ln/>
        </p:spPr>
        <p:txBody>
          <a:bodyPr wrap="square" lIns="0" tIns="0" rIns="0" bIns="0" rtlCol="0" anchor="ctr"/>
          <a:lstStyle/>
          <a:p>
            <a:pPr indent="0" marL="0">
              <a:buNone/>
            </a:pPr>
            <a:r>
              <a:rPr lang="en-US" sz="1700" b="1" dirty="0">
                <a:solidFill>
                  <a:schemeClr val="tx2"/>
                </a:solidFill>
              </a:rPr>
              <a:t>Market reference 市场参考价</a:t>
            </a:r>
            <a:endParaRPr lang="en-US" sz="1700" dirty="0"/>
          </a:p>
          <a:p>
            <a:pPr indent="0" marL="0">
              <a:buNone/>
            </a:pPr>
            <a:r>
              <a:rPr lang="en-US" sz="1300" dirty="0">
                <a:solidFill>
                  <a:schemeClr val="accent5"/>
                </a:solidFill>
              </a:rPr>
              <a:t>Branded goods only</a:t>
            </a:r>
            <a:endParaRPr lang="en-US" sz="1700" dirty="0"/>
          </a:p>
        </p:txBody>
      </p:sp>
      <p:sp>
        <p:nvSpPr>
          <p:cNvPr id="9" name="Text 5"/>
          <p:cNvSpPr txBox="1"/>
          <p:nvPr/>
        </p:nvSpPr>
        <p:spPr>
          <a:xfrm>
            <a:off x="868680" y="4297680"/>
            <a:ext cx="4815688"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Public Malaysian wholesale prices, always with source link and date</a:t>
            </a:r>
            <a:endParaRPr lang="en-US" sz="1400" dirty="0"/>
          </a:p>
          <a:p>
            <a:pPr marL="342900" indent="-342900">
              <a:spcAft>
                <a:spcPts val="600"/>
              </a:spcAft>
              <a:buSzPct val="100000"/>
              <a:buChar char="•"/>
            </a:pPr>
            <a:r>
              <a:rPr lang="en-US" sz="1400" dirty="0">
                <a:solidFill>
                  <a:schemeClr val="tx1"/>
                </a:solidFill>
              </a:rPr>
              <a:t>Example: Seamaster 250ml × 24 quoted RM6.15–9.38 per carton across four wholesalers</a:t>
            </a:r>
            <a:endParaRPr lang="en-US" sz="1400" dirty="0"/>
          </a:p>
          <a:p>
            <a:pPr marL="342900" indent="-342900">
              <a:spcAft>
                <a:spcPts val="600"/>
              </a:spcAft>
              <a:buSzPct val="100000"/>
              <a:buChar char="•"/>
            </a:pPr>
            <a:r>
              <a:rPr lang="en-US" sz="1400" dirty="0">
                <a:solidFill>
                  <a:schemeClr val="tx1"/>
                </a:solidFill>
              </a:rPr>
              <a:t>Reference only; never changes our prices</a:t>
            </a:r>
            <a:endParaRPr lang="en-US" sz="1400" dirty="0"/>
          </a:p>
        </p:txBody>
      </p:sp>
      <p:sp>
        <p:nvSpPr>
          <p:cNvPr id="10" name="Field intelligence 现场情报"/>
          <p:cNvSpPr/>
          <p:nvPr/>
        </p:nvSpPr>
        <p:spPr>
          <a:xfrm>
            <a:off x="6233008" y="3246120"/>
            <a:ext cx="5410048" cy="2651760"/>
          </a:xfrm>
          <a:prstGeom prst="roundRect">
            <a:avLst>
              <a:gd name="adj" fmla="val 4138"/>
            </a:avLst>
          </a:prstGeom>
          <a:solidFill>
            <a:schemeClr val="bg2"/>
          </a:solidFill>
          <a:ln w="12700">
            <a:solidFill>
              <a:schemeClr val="bg2"/>
            </a:solidFill>
            <a:prstDash val="solid"/>
          </a:ln>
        </p:spPr>
      </p:sp>
      <p:sp>
        <p:nvSpPr>
          <p:cNvPr id="11" name="Field intelligence 现场情报 icon circle"/>
          <p:cNvSpPr/>
          <p:nvPr/>
        </p:nvSpPr>
        <p:spPr>
          <a:xfrm>
            <a:off x="6507328" y="3520440"/>
            <a:ext cx="548640" cy="548640"/>
          </a:xfrm>
          <a:prstGeom prst="ellipse">
            <a:avLst/>
          </a:prstGeom>
          <a:solidFill>
            <a:schemeClr val="accent1"/>
          </a:solidFill>
          <a:ln w="12700">
            <a:solidFill>
              <a:schemeClr val="accent1"/>
            </a:solidFill>
            <a:prstDash val="solid"/>
          </a:ln>
        </p:spPr>
      </p:sp>
      <p:pic>
        <p:nvPicPr>
          <p:cNvPr id="12" name="Field intelligence 现场情报 icon" descr="preencoded.png">    </p:cNvPr>
          <p:cNvPicPr>
            <a:picLocks noChangeAspect="1"/>
          </p:cNvPicPr>
          <p:nvPr/>
        </p:nvPicPr>
        <p:blipFill>
          <a:blip r:embed="rId3"/>
          <a:stretch>
            <a:fillRect/>
          </a:stretch>
        </p:blipFill>
        <p:spPr>
          <a:xfrm>
            <a:off x="6639001" y="3652114"/>
            <a:ext cx="285293" cy="285293"/>
          </a:xfrm>
          <a:prstGeom prst="rect">
            <a:avLst/>
          </a:prstGeom>
        </p:spPr>
      </p:pic>
      <p:sp>
        <p:nvSpPr>
          <p:cNvPr id="13" name="Text 8"/>
          <p:cNvSpPr txBox="1"/>
          <p:nvPr/>
        </p:nvSpPr>
        <p:spPr>
          <a:xfrm>
            <a:off x="7193128" y="3474720"/>
            <a:ext cx="4221328" cy="685800"/>
          </a:xfrm>
          <a:prstGeom prst="rect">
            <a:avLst/>
          </a:prstGeom>
          <a:noFill/>
          <a:ln/>
        </p:spPr>
        <p:txBody>
          <a:bodyPr wrap="square" lIns="0" tIns="0" rIns="0" bIns="0" rtlCol="0" anchor="ctr"/>
          <a:lstStyle/>
          <a:p>
            <a:pPr indent="0" marL="0">
              <a:buNone/>
            </a:pPr>
            <a:r>
              <a:rPr lang="en-US" sz="1700" b="1" dirty="0">
                <a:solidFill>
                  <a:schemeClr val="tx2"/>
                </a:solidFill>
              </a:rPr>
              <a:t>Field intelligence 现场情报</a:t>
            </a:r>
            <a:endParaRPr lang="en-US" sz="1700" dirty="0"/>
          </a:p>
          <a:p>
            <a:pPr indent="0" marL="0">
              <a:buNone/>
            </a:pPr>
            <a:r>
              <a:rPr lang="en-US" sz="1300" dirty="0">
                <a:solidFill>
                  <a:schemeClr val="accent5"/>
                </a:solidFill>
              </a:rPr>
              <a:t>Every SKU</a:t>
            </a:r>
            <a:endParaRPr lang="en-US" sz="1700" dirty="0"/>
          </a:p>
        </p:txBody>
      </p:sp>
      <p:sp>
        <p:nvSpPr>
          <p:cNvPr id="14" name="Text 9"/>
          <p:cNvSpPr txBox="1"/>
          <p:nvPr/>
        </p:nvSpPr>
        <p:spPr>
          <a:xfrm>
            <a:off x="6553048" y="4297680"/>
            <a:ext cx="4815688"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Captured by salespeople in the shop</a:t>
            </a:r>
            <a:endParaRPr lang="en-US" sz="1400" dirty="0"/>
          </a:p>
          <a:p>
            <a:pPr marL="342900" indent="-342900">
              <a:spcAft>
                <a:spcPts val="600"/>
              </a:spcAft>
              <a:buSzPct val="100000"/>
              <a:buChar char="•"/>
            </a:pPr>
            <a:r>
              <a:rPr lang="en-US" sz="1400" dirty="0">
                <a:solidFill>
                  <a:schemeClr val="tx1"/>
                </a:solidFill>
              </a:rPr>
              <a:t>Records won, lost or quoted, which builds win-rate data</a:t>
            </a:r>
            <a:endParaRPr lang="en-US" sz="1400" dirty="0"/>
          </a:p>
          <a:p>
            <a:pPr marL="342900" indent="-342900">
              <a:spcAft>
                <a:spcPts val="600"/>
              </a:spcAft>
              <a:buSzPct val="100000"/>
              <a:buChar char="•"/>
            </a:pPr>
            <a:r>
              <a:rPr lang="en-US" sz="1400" dirty="0">
                <a:solidFill>
                  <a:schemeClr val="tx1"/>
                </a:solidFill>
              </a:rPr>
              <a:t>Flags SKUs where we are above every competitor price seen</a:t>
            </a:r>
            <a:endParaRPr lang="en-US" sz="1400" dirty="0"/>
          </a:p>
        </p:txBody>
      </p:sp>
      <p:sp>
        <p:nvSpPr>
          <p:cNvPr id="15" name="Source"/>
          <p:cNvSpPr txBox="1"/>
          <p:nvPr/>
        </p:nvSpPr>
        <p:spPr>
          <a:xfrm>
            <a:off x="548640" y="6035040"/>
            <a:ext cx="11094415" cy="274320"/>
          </a:xfrm>
          <a:prstGeom prst="rect">
            <a:avLst/>
          </a:prstGeom>
          <a:noFill/>
          <a:ln/>
        </p:spPr>
        <p:txBody>
          <a:bodyPr wrap="square" lIns="0" tIns="0" rIns="0" bIns="0" rtlCol="0" anchor="ctr"/>
          <a:lstStyle/>
          <a:p>
            <a:pPr indent="0" marL="0">
              <a:buNone/>
            </a:pPr>
            <a:r>
              <a:rPr lang="en-US" sz="1000" i="1" dirty="0">
                <a:solidFill>
                  <a:schemeClr val="accent5"/>
                </a:solidFill>
              </a:rPr>
              <a:t>Source: share of FY2025 sales value flagged is_branded, and the Seamaster example, from the project brief (DATA_SPEC §4); not independently re-checked.</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b">
            <a:normAutofit/>
          </a:bodyPr>
          <a:lstStyle/>
          <a:p>
            <a:pPr algn="l" indent="0" marL="0">
              <a:buNone/>
            </a:pPr>
            <a:r>
              <a:rPr lang="en-US" sz="3200" b="1" dirty="0">
                <a:solidFill>
                  <a:schemeClr val="tx2"/>
                </a:solidFill>
              </a:rPr>
              <a:t>Start with the 178 SKUs that make 80% of sales</a:t>
            </a:r>
            <a:endParaRPr lang="en-US" sz="3200" dirty="0"/>
          </a:p>
        </p:txBody>
      </p:sp>
      <p:sp>
        <p:nvSpPr>
          <p:cNvPr id="3" name="Text 0"/>
          <p:cNvSpPr/>
          <p:nvPr>
            <p:ph idx="101" type="body" hasCustomPrompt="1"/>
          </p:nvPr>
        </p:nvSpPr>
        <p:spPr>
          <a:xfrm>
            <a:off x="548640" y="1024128"/>
            <a:ext cx="11094415" cy="365760"/>
          </a:xfrm>
          <a:prstGeom prst="rect">
            <a:avLst/>
          </a:prstGeom>
          <a:noFill/>
          <a:ln/>
        </p:spPr>
        <p:txBody>
          <a:bodyPr wrap="square" lIns="0" tIns="0" rIns="0" bIns="0" rtlCol="0" anchor="t"/>
          <a:lstStyle/>
          <a:p>
            <a:pPr algn="l" indent="0" marL="0">
              <a:buNone/>
            </a:pPr>
            <a:r>
              <a:rPr lang="en-US" sz="1600" dirty="0">
                <a:solidFill>
                  <a:schemeClr val="accent1"/>
                </a:solidFill>
              </a:rPr>
              <a:t>先做 178 个核心 SKU</a:t>
            </a:r>
            <a:endParaRPr lang="en-US" sz="1600" dirty="0"/>
          </a:p>
        </p:txBody>
      </p:sp>
      <p:graphicFrame>
        <p:nvGraphicFramePr>
          <p:cNvPr id="4" name="Core SKU concentration" descr=""/>
          <p:cNvGraphicFramePr/>
          <p:nvPr/>
        </p:nvGraphicFramePr>
        <p:xfrm>
          <a:off x="548640" y="1600200"/>
          <a:ext cx="5669280" cy="42976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6766560" y="1691640"/>
            <a:ext cx="4876495" cy="1463040"/>
          </a:xfrm>
          <a:prstGeom prst="rect">
            <a:avLst/>
          </a:prstGeom>
          <a:noFill/>
          <a:ln/>
        </p:spPr>
        <p:txBody>
          <a:bodyPr wrap="square" lIns="0" tIns="0" rIns="0" bIns="0" rtlCol="0" anchor="t"/>
          <a:lstStyle/>
          <a:p>
            <a:pPr indent="0" marL="0">
              <a:buNone/>
            </a:pPr>
            <a:r>
              <a:rPr lang="en-US" sz="6000" b="1" dirty="0">
                <a:solidFill>
                  <a:schemeClr val="accent1"/>
                </a:solidFill>
                <a:latin typeface="Cambria" pitchFamily="34" charset="0"/>
                <a:ea typeface="Cambria" pitchFamily="34" charset="-122"/>
                <a:cs typeface="Cambria" pitchFamily="34" charset="-120"/>
              </a:rPr>
              <a:t>79.9%</a:t>
            </a:r>
            <a:endParaRPr lang="en-US" sz="6000" dirty="0"/>
          </a:p>
          <a:p>
            <a:pPr indent="0" marL="0">
              <a:buNone/>
            </a:pPr>
            <a:r>
              <a:rPr lang="en-US" sz="1800" dirty="0">
                <a:solidFill>
                  <a:schemeClr val="tx2"/>
                </a:solidFill>
              </a:rPr>
              <a:t>of sales value comes from 178 SKUs</a:t>
            </a:r>
            <a:endParaRPr lang="en-US" sz="6000" dirty="0"/>
          </a:p>
        </p:txBody>
      </p:sp>
      <p:sp>
        <p:nvSpPr>
          <p:cNvPr id="6" name="Why start small"/>
          <p:cNvSpPr/>
          <p:nvPr/>
        </p:nvSpPr>
        <p:spPr>
          <a:xfrm>
            <a:off x="6766560" y="3429000"/>
            <a:ext cx="4876495" cy="1874520"/>
          </a:xfrm>
          <a:prstGeom prst="roundRect">
            <a:avLst>
              <a:gd name="adj" fmla="val 5854"/>
            </a:avLst>
          </a:prstGeom>
          <a:solidFill>
            <a:schemeClr val="bg2"/>
          </a:solidFill>
          <a:ln w="12700">
            <a:solidFill>
              <a:schemeClr val="bg2"/>
            </a:solidFill>
            <a:prstDash val="solid"/>
          </a:ln>
        </p:spPr>
      </p:sp>
      <p:sp>
        <p:nvSpPr>
          <p:cNvPr id="7" name="Text 4"/>
          <p:cNvSpPr txBox="1"/>
          <p:nvPr/>
        </p:nvSpPr>
        <p:spPr>
          <a:xfrm>
            <a:off x="7040880" y="3611880"/>
            <a:ext cx="4327855" cy="1600200"/>
          </a:xfrm>
          <a:prstGeom prst="rect">
            <a:avLst/>
          </a:prstGeom>
          <a:noFill/>
          <a:ln/>
        </p:spPr>
        <p:txBody>
          <a:bodyPr wrap="square" lIns="0" tIns="0" rIns="0" bIns="0" rtlCol="0" anchor="t"/>
          <a:lstStyle/>
          <a:p>
            <a:pPr indent="0" marL="0">
              <a:buNone/>
            </a:pPr>
            <a:r>
              <a:rPr lang="en-US" sz="1600" b="1" dirty="0">
                <a:solidFill>
                  <a:schemeClr val="tx2"/>
                </a:solidFill>
              </a:rPr>
              <a:t>Why not all 1,093 at once</a:t>
            </a:r>
            <a:endParaRPr lang="en-US" sz="1600" dirty="0"/>
          </a:p>
          <a:p>
            <a:pPr indent="0" marL="0">
              <a:buNone/>
            </a:pPr>
            <a:r>
              <a:rPr lang="en-US" sz="1400" dirty="0">
                <a:solidFill>
                  <a:schemeClr val="tx1"/>
                </a:solidFill>
              </a:rPr>
              <a:t>A list of 1,093 prices will not be maintained, and an out-of-date price is worse than no price. 178 prices can be checked, owned and kept current. The rest follow once the habit exists.</a:t>
            </a:r>
            <a:endParaRPr lang="en-US" sz="1600" dirty="0"/>
          </a:p>
        </p:txBody>
      </p:sp>
      <p:sp>
        <p:nvSpPr>
          <p:cNvPr id="8" name="Source"/>
          <p:cNvSpPr txBox="1"/>
          <p:nvPr/>
        </p:nvSpPr>
        <p:spPr>
          <a:xfrm>
            <a:off x="548640" y="6053328"/>
            <a:ext cx="11094415" cy="274320"/>
          </a:xfrm>
          <a:prstGeom prst="rect">
            <a:avLst/>
          </a:prstGeom>
          <a:noFill/>
          <a:ln/>
        </p:spPr>
        <p:txBody>
          <a:bodyPr wrap="square" lIns="0" tIns="0" rIns="0" bIns="0" rtlCol="0" anchor="ctr"/>
          <a:lstStyle/>
          <a:p>
            <a:pPr indent="0" marL="0">
              <a:buNone/>
            </a:pPr>
            <a:r>
              <a:rPr lang="en-US" sz="1000" i="1" dirty="0">
                <a:solidFill>
                  <a:schemeClr val="accent5"/>
                </a:solidFill>
              </a:rPr>
              <a:t>Source: Pareto analysis of FY2025 sales value (DATA_SPEC §8). Share of SKUs = 178 ÷ 1,093.</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b">
            <a:normAutofit/>
          </a:bodyPr>
          <a:lstStyle/>
          <a:p>
            <a:pPr algn="l" indent="0" marL="0">
              <a:buNone/>
            </a:pPr>
            <a:r>
              <a:rPr lang="en-US" sz="3200" b="1" dirty="0">
                <a:solidFill>
                  <a:schemeClr val="tx2"/>
                </a:solidFill>
              </a:rPr>
              <a:t>A three-week pilot, then decide on rollout</a:t>
            </a:r>
            <a:endParaRPr lang="en-US" sz="3200" dirty="0"/>
          </a:p>
        </p:txBody>
      </p:sp>
      <p:sp>
        <p:nvSpPr>
          <p:cNvPr id="3" name="Text 0"/>
          <p:cNvSpPr/>
          <p:nvPr>
            <p:ph idx="101" type="body" hasCustomPrompt="1"/>
          </p:nvPr>
        </p:nvSpPr>
        <p:spPr>
          <a:xfrm>
            <a:off x="548640" y="1024128"/>
            <a:ext cx="11094415" cy="365760"/>
          </a:xfrm>
          <a:prstGeom prst="rect">
            <a:avLst/>
          </a:prstGeom>
          <a:noFill/>
          <a:ln/>
        </p:spPr>
        <p:txBody>
          <a:bodyPr wrap="square" lIns="0" tIns="0" rIns="0" bIns="0" rtlCol="0" anchor="t"/>
          <a:lstStyle/>
          <a:p>
            <a:pPr algn="l" indent="0" marL="0">
              <a:buNone/>
            </a:pPr>
            <a:r>
              <a:rPr lang="en-US" sz="1600" dirty="0">
                <a:solidFill>
                  <a:schemeClr val="accent1"/>
                </a:solidFill>
              </a:rPr>
              <a:t>三周试行计划</a:t>
            </a:r>
            <a:endParaRPr lang="en-US" sz="1600" dirty="0"/>
          </a:p>
        </p:txBody>
      </p:sp>
      <p:sp>
        <p:nvSpPr>
          <p:cNvPr id="4" name="Status today"/>
          <p:cNvSpPr/>
          <p:nvPr/>
        </p:nvSpPr>
        <p:spPr>
          <a:xfrm>
            <a:off x="548640" y="1600200"/>
            <a:ext cx="11094415" cy="566928"/>
          </a:xfrm>
          <a:prstGeom prst="roundRect">
            <a:avLst>
              <a:gd name="adj" fmla="val 19355"/>
            </a:avLst>
          </a:prstGeom>
          <a:solidFill>
            <a:srgbClr val="E3F1EB"/>
          </a:solidFill>
          <a:ln w="12700">
            <a:solidFill>
              <a:srgbClr val="E3F1EB"/>
            </a:solidFill>
            <a:prstDash val="solid"/>
          </a:ln>
        </p:spPr>
      </p:sp>
      <p:sp>
        <p:nvSpPr>
          <p:cNvPr id="5" name="Text 3"/>
          <p:cNvSpPr txBox="1"/>
          <p:nvPr/>
        </p:nvSpPr>
        <p:spPr>
          <a:xfrm>
            <a:off x="822960" y="1600200"/>
            <a:ext cx="10545775" cy="566928"/>
          </a:xfrm>
          <a:prstGeom prst="rect">
            <a:avLst/>
          </a:prstGeom>
          <a:noFill/>
          <a:ln/>
        </p:spPr>
        <p:txBody>
          <a:bodyPr wrap="square" lIns="0" tIns="0" rIns="0" bIns="0" rtlCol="0" anchor="ctr"/>
          <a:lstStyle/>
          <a:p>
            <a:pPr indent="0" marL="0">
              <a:buNone/>
            </a:pPr>
            <a:r>
              <a:rPr lang="en-US" sz="1500" b="1" dirty="0">
                <a:solidFill>
                  <a:schemeClr val="accent1"/>
                </a:solidFill>
              </a:rPr>
              <a:t>Status today  </a:t>
            </a:r>
            <a:pPr indent="0" marL="0">
              <a:buNone/>
            </a:pPr>
            <a:r>
              <a:rPr lang="en-US" sz="1500" dirty="0">
                <a:solidFill>
                  <a:schemeClr val="tx1"/>
                </a:solidFill>
              </a:rPr>
              <a:t>All screens built and live at sk-keong-pricing.netlify.app on sample data. Waiting on SK Keong data.</a:t>
            </a:r>
            <a:endParaRPr lang="en-US" sz="1500" dirty="0"/>
          </a:p>
        </p:txBody>
      </p:sp>
      <p:sp>
        <p:nvSpPr>
          <p:cNvPr id="6" name="Week 1 marker"/>
          <p:cNvSpPr/>
          <p:nvPr/>
        </p:nvSpPr>
        <p:spPr>
          <a:xfrm>
            <a:off x="548640" y="2697480"/>
            <a:ext cx="548640" cy="548640"/>
          </a:xfrm>
          <a:prstGeom prst="ellipse">
            <a:avLst/>
          </a:prstGeom>
          <a:solidFill>
            <a:schemeClr val="accent1"/>
          </a:solidFill>
          <a:ln w="12700">
            <a:solidFill>
              <a:schemeClr val="accent1"/>
            </a:solidFill>
            <a:prstDash val="solid"/>
          </a:ln>
        </p:spPr>
      </p:sp>
      <p:sp>
        <p:nvSpPr>
          <p:cNvPr id="7" name="Text 5"/>
          <p:cNvSpPr txBox="1"/>
          <p:nvPr/>
        </p:nvSpPr>
        <p:spPr>
          <a:xfrm>
            <a:off x="548640" y="26974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8" name="Timeline connector"/>
          <p:cNvSpPr/>
          <p:nvPr/>
        </p:nvSpPr>
        <p:spPr>
          <a:xfrm>
            <a:off x="1188720" y="2971800"/>
            <a:ext cx="2110664" cy="0"/>
          </a:xfrm>
          <a:prstGeom prst="line">
            <a:avLst/>
          </a:prstGeom>
          <a:noFill/>
          <a:ln w="19050">
            <a:solidFill>
              <a:srgbClr val="6B776F"/>
            </a:solidFill>
            <a:prstDash val="dash"/>
          </a:ln>
        </p:spPr>
      </p:sp>
      <p:sp>
        <p:nvSpPr>
          <p:cNvPr id="9" name="Text 7"/>
          <p:cNvSpPr txBox="1"/>
          <p:nvPr/>
        </p:nvSpPr>
        <p:spPr>
          <a:xfrm>
            <a:off x="548640" y="3383280"/>
            <a:ext cx="2567864" cy="685800"/>
          </a:xfrm>
          <a:prstGeom prst="rect">
            <a:avLst/>
          </a:prstGeom>
          <a:noFill/>
          <a:ln/>
        </p:spPr>
        <p:txBody>
          <a:bodyPr wrap="square" lIns="0" tIns="0" rIns="0" bIns="0" rtlCol="0" anchor="t"/>
          <a:lstStyle/>
          <a:p>
            <a:pPr indent="0" marL="0">
              <a:buNone/>
            </a:pPr>
            <a:r>
              <a:rPr lang="en-US" sz="1300" dirty="0">
                <a:solidFill>
                  <a:schemeClr val="accent5"/>
                </a:solidFill>
              </a:rPr>
              <a:t>Week 1</a:t>
            </a:r>
            <a:endParaRPr lang="en-US" sz="1300" dirty="0"/>
          </a:p>
          <a:p>
            <a:pPr indent="0" marL="0">
              <a:buNone/>
            </a:pPr>
            <a:r>
              <a:rPr lang="en-US" sz="1700" b="1" dirty="0">
                <a:solidFill>
                  <a:schemeClr val="tx2"/>
                </a:solidFill>
              </a:rPr>
              <a:t>Set up</a:t>
            </a:r>
            <a:endParaRPr lang="en-US" sz="1300" dirty="0"/>
          </a:p>
        </p:txBody>
      </p:sp>
      <p:sp>
        <p:nvSpPr>
          <p:cNvPr id="10" name="Text 8"/>
          <p:cNvSpPr txBox="1"/>
          <p:nvPr/>
        </p:nvSpPr>
        <p:spPr>
          <a:xfrm>
            <a:off x="548640" y="4160520"/>
            <a:ext cx="2567864" cy="18288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User logins for all staff</a:t>
            </a:r>
            <a:endParaRPr lang="en-US" sz="1400" dirty="0"/>
          </a:p>
          <a:p>
            <a:pPr marL="342900" indent="-342900">
              <a:spcAft>
                <a:spcPts val="600"/>
              </a:spcAft>
              <a:buSzPct val="100000"/>
              <a:buChar char="•"/>
            </a:pPr>
            <a:r>
              <a:rPr lang="en-US" sz="1400" dirty="0">
                <a:solidFill>
                  <a:schemeClr val="tx1"/>
                </a:solidFill>
              </a:rPr>
              <a:t>Owner answers the 12 decisions</a:t>
            </a:r>
            <a:endParaRPr lang="en-US" sz="1400" dirty="0"/>
          </a:p>
          <a:p>
            <a:pPr marL="342900" indent="-342900">
              <a:spcAft>
                <a:spcPts val="600"/>
              </a:spcAft>
              <a:buSzPct val="100000"/>
              <a:buChar char="•"/>
            </a:pPr>
            <a:r>
              <a:rPr lang="en-US" sz="1400" dirty="0">
                <a:solidFill>
                  <a:schemeClr val="tx1"/>
                </a:solidFill>
              </a:rPr>
              <a:t>Salespeople install the app</a:t>
            </a:r>
            <a:endParaRPr lang="en-US" sz="1400" dirty="0"/>
          </a:p>
          <a:p>
            <a:pPr marL="342900" indent="-342900">
              <a:spcAft>
                <a:spcPts val="600"/>
              </a:spcAft>
              <a:buSzPct val="100000"/>
              <a:buChar char="•"/>
            </a:pPr>
            <a:r>
              <a:rPr lang="en-US" sz="1400" dirty="0">
                <a:solidFill>
                  <a:schemeClr val="tx1"/>
                </a:solidFill>
              </a:rPr>
              <a:t>Unit reconciliation starts</a:t>
            </a:r>
            <a:endParaRPr lang="en-US" sz="1400" dirty="0"/>
          </a:p>
        </p:txBody>
      </p:sp>
      <p:sp>
        <p:nvSpPr>
          <p:cNvPr id="11" name="Week 2 marker"/>
          <p:cNvSpPr/>
          <p:nvPr/>
        </p:nvSpPr>
        <p:spPr>
          <a:xfrm>
            <a:off x="3390824" y="2697480"/>
            <a:ext cx="548640" cy="548640"/>
          </a:xfrm>
          <a:prstGeom prst="ellipse">
            <a:avLst/>
          </a:prstGeom>
          <a:solidFill>
            <a:schemeClr val="accent1"/>
          </a:solidFill>
          <a:ln w="12700">
            <a:solidFill>
              <a:schemeClr val="accent1"/>
            </a:solidFill>
            <a:prstDash val="solid"/>
          </a:ln>
        </p:spPr>
      </p:sp>
      <p:sp>
        <p:nvSpPr>
          <p:cNvPr id="12" name="Text 10"/>
          <p:cNvSpPr txBox="1"/>
          <p:nvPr/>
        </p:nvSpPr>
        <p:spPr>
          <a:xfrm>
            <a:off x="3390824" y="26974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3" name="Timeline connector"/>
          <p:cNvSpPr/>
          <p:nvPr/>
        </p:nvSpPr>
        <p:spPr>
          <a:xfrm>
            <a:off x="4030904" y="2971800"/>
            <a:ext cx="2110664" cy="0"/>
          </a:xfrm>
          <a:prstGeom prst="line">
            <a:avLst/>
          </a:prstGeom>
          <a:noFill/>
          <a:ln w="19050">
            <a:solidFill>
              <a:srgbClr val="6B776F"/>
            </a:solidFill>
            <a:prstDash val="dash"/>
          </a:ln>
        </p:spPr>
      </p:sp>
      <p:sp>
        <p:nvSpPr>
          <p:cNvPr id="14" name="Text 12"/>
          <p:cNvSpPr txBox="1"/>
          <p:nvPr/>
        </p:nvSpPr>
        <p:spPr>
          <a:xfrm>
            <a:off x="3390824" y="3383280"/>
            <a:ext cx="2567864" cy="685800"/>
          </a:xfrm>
          <a:prstGeom prst="rect">
            <a:avLst/>
          </a:prstGeom>
          <a:noFill/>
          <a:ln/>
        </p:spPr>
        <p:txBody>
          <a:bodyPr wrap="square" lIns="0" tIns="0" rIns="0" bIns="0" rtlCol="0" anchor="t"/>
          <a:lstStyle/>
          <a:p>
            <a:pPr indent="0" marL="0">
              <a:buNone/>
            </a:pPr>
            <a:r>
              <a:rPr lang="en-US" sz="1300" dirty="0">
                <a:solidFill>
                  <a:schemeClr val="accent5"/>
                </a:solidFill>
              </a:rPr>
              <a:t>Week 2</a:t>
            </a:r>
            <a:endParaRPr lang="en-US" sz="1300" dirty="0"/>
          </a:p>
          <a:p>
            <a:pPr indent="0" marL="0">
              <a:buNone/>
            </a:pPr>
            <a:r>
              <a:rPr lang="en-US" sz="1700" b="1" dirty="0">
                <a:solidFill>
                  <a:schemeClr val="tx2"/>
                </a:solidFill>
              </a:rPr>
              <a:t>Verify cost, set prices</a:t>
            </a:r>
            <a:endParaRPr lang="en-US" sz="1300" dirty="0"/>
          </a:p>
        </p:txBody>
      </p:sp>
      <p:sp>
        <p:nvSpPr>
          <p:cNvPr id="15" name="Text 13"/>
          <p:cNvSpPr txBox="1"/>
          <p:nvPr/>
        </p:nvSpPr>
        <p:spPr>
          <a:xfrm>
            <a:off x="3390824" y="4160520"/>
            <a:ext cx="2567864" cy="18288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Units and verified cost for the 178 core SKUs</a:t>
            </a:r>
            <a:endParaRPr lang="en-US" sz="1400" dirty="0"/>
          </a:p>
          <a:p>
            <a:pPr marL="342900" indent="-342900">
              <a:spcAft>
                <a:spcPts val="600"/>
              </a:spcAft>
              <a:buSzPct val="100000"/>
              <a:buChar char="•"/>
            </a:pPr>
            <a:r>
              <a:rPr lang="en-US" sz="1400" dirty="0">
                <a:solidFill>
                  <a:schemeClr val="tx1"/>
                </a:solidFill>
              </a:rPr>
              <a:t>Target margin per category</a:t>
            </a:r>
            <a:endParaRPr lang="en-US" sz="1400" dirty="0"/>
          </a:p>
          <a:p>
            <a:pPr marL="342900" indent="-342900">
              <a:spcAft>
                <a:spcPts val="600"/>
              </a:spcAft>
              <a:buSzPct val="100000"/>
              <a:buChar char="•"/>
            </a:pPr>
            <a:r>
              <a:rPr lang="en-US" sz="1400" dirty="0">
                <a:solidFill>
                  <a:schemeClr val="tx1"/>
                </a:solidFill>
              </a:rPr>
              <a:t>Finance sets list and floor prices</a:t>
            </a:r>
            <a:endParaRPr lang="en-US" sz="1400" dirty="0"/>
          </a:p>
        </p:txBody>
      </p:sp>
      <p:sp>
        <p:nvSpPr>
          <p:cNvPr id="16" name="Week 3 marker"/>
          <p:cNvSpPr/>
          <p:nvPr/>
        </p:nvSpPr>
        <p:spPr>
          <a:xfrm>
            <a:off x="6233008" y="2697480"/>
            <a:ext cx="548640" cy="548640"/>
          </a:xfrm>
          <a:prstGeom prst="ellipse">
            <a:avLst/>
          </a:prstGeom>
          <a:solidFill>
            <a:schemeClr val="accent1"/>
          </a:solidFill>
          <a:ln w="12700">
            <a:solidFill>
              <a:schemeClr val="accent1"/>
            </a:solidFill>
            <a:prstDash val="solid"/>
          </a:ln>
        </p:spPr>
      </p:sp>
      <p:sp>
        <p:nvSpPr>
          <p:cNvPr id="17" name="Text 15"/>
          <p:cNvSpPr txBox="1"/>
          <p:nvPr/>
        </p:nvSpPr>
        <p:spPr>
          <a:xfrm>
            <a:off x="6233008" y="26974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8" name="Timeline connector"/>
          <p:cNvSpPr/>
          <p:nvPr/>
        </p:nvSpPr>
        <p:spPr>
          <a:xfrm>
            <a:off x="6873088" y="2971800"/>
            <a:ext cx="2110664" cy="0"/>
          </a:xfrm>
          <a:prstGeom prst="line">
            <a:avLst/>
          </a:prstGeom>
          <a:noFill/>
          <a:ln w="19050">
            <a:solidFill>
              <a:srgbClr val="6B776F"/>
            </a:solidFill>
            <a:prstDash val="dash"/>
          </a:ln>
        </p:spPr>
      </p:sp>
      <p:sp>
        <p:nvSpPr>
          <p:cNvPr id="19" name="Text 17"/>
          <p:cNvSpPr txBox="1"/>
          <p:nvPr/>
        </p:nvSpPr>
        <p:spPr>
          <a:xfrm>
            <a:off x="6233008" y="3383280"/>
            <a:ext cx="2567864" cy="685800"/>
          </a:xfrm>
          <a:prstGeom prst="rect">
            <a:avLst/>
          </a:prstGeom>
          <a:noFill/>
          <a:ln/>
        </p:spPr>
        <p:txBody>
          <a:bodyPr wrap="square" lIns="0" tIns="0" rIns="0" bIns="0" rtlCol="0" anchor="t"/>
          <a:lstStyle/>
          <a:p>
            <a:pPr indent="0" marL="0">
              <a:buNone/>
            </a:pPr>
            <a:r>
              <a:rPr lang="en-US" sz="1300" dirty="0">
                <a:solidFill>
                  <a:schemeClr val="accent5"/>
                </a:solidFill>
              </a:rPr>
              <a:t>Week 3</a:t>
            </a:r>
            <a:endParaRPr lang="en-US" sz="1300" dirty="0"/>
          </a:p>
          <a:p>
            <a:pPr indent="0" marL="0">
              <a:buNone/>
            </a:pPr>
            <a:r>
              <a:rPr lang="en-US" sz="1700" b="1" dirty="0">
                <a:solidFill>
                  <a:schemeClr val="tx2"/>
                </a:solidFill>
              </a:rPr>
              <a:t>Go live in the field</a:t>
            </a:r>
            <a:endParaRPr lang="en-US" sz="1300" dirty="0"/>
          </a:p>
        </p:txBody>
      </p:sp>
      <p:sp>
        <p:nvSpPr>
          <p:cNvPr id="20" name="Text 18"/>
          <p:cNvSpPr txBox="1"/>
          <p:nvPr/>
        </p:nvSpPr>
        <p:spPr>
          <a:xfrm>
            <a:off x="6233008" y="4160520"/>
            <a:ext cx="2567864" cy="18288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Sample data cleared; real data loaded</a:t>
            </a:r>
            <a:endParaRPr lang="en-US" sz="1400" dirty="0"/>
          </a:p>
          <a:p>
            <a:pPr marL="342900" indent="-342900">
              <a:spcAft>
                <a:spcPts val="600"/>
              </a:spcAft>
              <a:buSzPct val="100000"/>
              <a:buChar char="•"/>
            </a:pPr>
            <a:r>
              <a:rPr lang="en-US" sz="1400" dirty="0">
                <a:solidFill>
                  <a:schemeClr val="tx1"/>
                </a:solidFill>
              </a:rPr>
              <a:t>Price lookup, visit prep and capture in daily use</a:t>
            </a:r>
            <a:endParaRPr lang="en-US" sz="1400" dirty="0"/>
          </a:p>
        </p:txBody>
      </p:sp>
      <p:sp>
        <p:nvSpPr>
          <p:cNvPr id="21" name="After marker"/>
          <p:cNvSpPr/>
          <p:nvPr/>
        </p:nvSpPr>
        <p:spPr>
          <a:xfrm>
            <a:off x="9075191" y="2697480"/>
            <a:ext cx="548640" cy="548640"/>
          </a:xfrm>
          <a:prstGeom prst="ellipse">
            <a:avLst/>
          </a:prstGeom>
          <a:solidFill>
            <a:schemeClr val="accent2"/>
          </a:solidFill>
          <a:ln w="12700">
            <a:solidFill>
              <a:schemeClr val="accent2"/>
            </a:solidFill>
            <a:prstDash val="solid"/>
          </a:ln>
        </p:spPr>
      </p:sp>
      <p:sp>
        <p:nvSpPr>
          <p:cNvPr id="22" name="Text 20"/>
          <p:cNvSpPr txBox="1"/>
          <p:nvPr/>
        </p:nvSpPr>
        <p:spPr>
          <a:xfrm>
            <a:off x="9075191" y="26974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a:t>
            </a:r>
            <a:endParaRPr lang="en-US" sz="1800" dirty="0"/>
          </a:p>
        </p:txBody>
      </p:sp>
      <p:sp>
        <p:nvSpPr>
          <p:cNvPr id="23" name="Text 21"/>
          <p:cNvSpPr txBox="1"/>
          <p:nvPr/>
        </p:nvSpPr>
        <p:spPr>
          <a:xfrm>
            <a:off x="9075191" y="3383280"/>
            <a:ext cx="2567864" cy="685800"/>
          </a:xfrm>
          <a:prstGeom prst="rect">
            <a:avLst/>
          </a:prstGeom>
          <a:noFill/>
          <a:ln/>
        </p:spPr>
        <p:txBody>
          <a:bodyPr wrap="square" lIns="0" tIns="0" rIns="0" bIns="0" rtlCol="0" anchor="t"/>
          <a:lstStyle/>
          <a:p>
            <a:pPr indent="0" marL="0">
              <a:buNone/>
            </a:pPr>
            <a:r>
              <a:rPr lang="en-US" sz="1300" dirty="0">
                <a:solidFill>
                  <a:schemeClr val="accent5"/>
                </a:solidFill>
              </a:rPr>
              <a:t>After</a:t>
            </a:r>
            <a:endParaRPr lang="en-US" sz="1300" dirty="0"/>
          </a:p>
          <a:p>
            <a:pPr indent="0" marL="0">
              <a:buNone/>
            </a:pPr>
            <a:r>
              <a:rPr lang="en-US" sz="1700" b="1" dirty="0">
                <a:solidFill>
                  <a:schemeClr val="tx2"/>
                </a:solidFill>
              </a:rPr>
              <a:t>Review and decide</a:t>
            </a:r>
            <a:endParaRPr lang="en-US" sz="1300" dirty="0"/>
          </a:p>
        </p:txBody>
      </p:sp>
      <p:sp>
        <p:nvSpPr>
          <p:cNvPr id="24" name="Text 22"/>
          <p:cNvSpPr txBox="1"/>
          <p:nvPr/>
        </p:nvSpPr>
        <p:spPr>
          <a:xfrm>
            <a:off x="9075191" y="4160520"/>
            <a:ext cx="2567864" cy="18288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Usage and first competitor data</a:t>
            </a:r>
            <a:endParaRPr lang="en-US" sz="1400" dirty="0"/>
          </a:p>
          <a:p>
            <a:pPr marL="342900" indent="-342900">
              <a:spcAft>
                <a:spcPts val="600"/>
              </a:spcAft>
              <a:buSzPct val="100000"/>
              <a:buChar char="•"/>
            </a:pPr>
            <a:r>
              <a:rPr lang="en-US" sz="1400" dirty="0">
                <a:solidFill>
                  <a:schemeClr val="tx1"/>
                </a:solidFill>
              </a:rPr>
              <a:t>Roll out, adjust, or stop</a:t>
            </a:r>
            <a:endParaRPr lang="en-US" sz="1400" dirty="0"/>
          </a:p>
          <a:p>
            <a:pPr marL="342900" indent="-342900">
              <a:spcAft>
                <a:spcPts val="600"/>
              </a:spcAft>
              <a:buSzPct val="100000"/>
              <a:buChar char="•"/>
            </a:pPr>
            <a:r>
              <a:rPr lang="en-US" sz="1400" dirty="0">
                <a:solidFill>
                  <a:schemeClr val="tx1"/>
                </a:solidFill>
              </a:rPr>
              <a:t>Move hosting before company-wide use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b">
            <a:normAutofit/>
          </a:bodyPr>
          <a:lstStyle/>
          <a:p>
            <a:pPr algn="l" indent="0" marL="0">
              <a:buNone/>
            </a:pPr>
            <a:r>
              <a:rPr lang="en-US" sz="3200" b="1" dirty="0">
                <a:solidFill>
                  <a:schemeClr val="tx2"/>
                </a:solidFill>
              </a:rPr>
              <a:t>How we will know the pilot worked</a:t>
            </a:r>
            <a:endParaRPr lang="en-US" sz="3200" dirty="0"/>
          </a:p>
        </p:txBody>
      </p:sp>
      <p:sp>
        <p:nvSpPr>
          <p:cNvPr id="3" name="Text 0"/>
          <p:cNvSpPr/>
          <p:nvPr>
            <p:ph idx="101" type="body" hasCustomPrompt="1"/>
          </p:nvPr>
        </p:nvSpPr>
        <p:spPr>
          <a:xfrm>
            <a:off x="548640" y="1024128"/>
            <a:ext cx="11094415" cy="365760"/>
          </a:xfrm>
          <a:prstGeom prst="rect">
            <a:avLst/>
          </a:prstGeom>
          <a:noFill/>
          <a:ln/>
        </p:spPr>
        <p:txBody>
          <a:bodyPr wrap="square" lIns="0" tIns="0" rIns="0" bIns="0" rtlCol="0" anchor="t"/>
          <a:lstStyle/>
          <a:p>
            <a:pPr algn="l" indent="0" marL="0">
              <a:buNone/>
            </a:pPr>
            <a:r>
              <a:rPr lang="en-US" sz="1600" dirty="0">
                <a:solidFill>
                  <a:schemeClr val="accent1"/>
                </a:solidFill>
              </a:rPr>
              <a:t>试行成功的衡量标准</a:t>
            </a:r>
            <a:endParaRPr lang="en-US" sz="1600" dirty="0"/>
          </a:p>
        </p:txBody>
      </p:sp>
      <p:graphicFrame>
        <p:nvGraphicFramePr>
          <p:cNvPr id="14" name="Pilot success measures"/>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5120640"/>
                <a:gridCol w="3291840"/>
                <a:gridCol w="2679192"/>
              </a:tblGrid>
              <a:tr h="566928">
                <a:tc>
                  <a:txBody>
                    <a:bodyPr/>
                    <a:lstStyle/>
                    <a:p>
                      <a:pPr indent="0" marL="0">
                        <a:buNone/>
                      </a:pPr>
                      <a:r>
                        <a:rPr lang="en-US" sz="1400" b="1" dirty="0">
                          <a:solidFill>
                            <a:srgbClr val="FFFFFF"/>
                          </a:solidFill>
                        </a:rPr>
                        <a:t>Measure</a:t>
                      </a:r>
                      <a:endParaRPr lang="en-US" sz="1400" dirty="0"/>
                    </a:p>
                  </a:txBody>
                  <a:tcPr marL="91440" marR="91440" marT="91440" marB="9144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0B3D2E"/>
                    </a:solidFill>
                  </a:tcPr>
                </a:tc>
                <a:tc>
                  <a:txBody>
                    <a:bodyPr/>
                    <a:lstStyle/>
                    <a:p>
                      <a:pPr indent="0" marL="0">
                        <a:buNone/>
                      </a:pPr>
                      <a:r>
                        <a:rPr lang="en-US" sz="1400" b="1" dirty="0">
                          <a:solidFill>
                            <a:srgbClr val="FFFFFF"/>
                          </a:solidFill>
                        </a:rPr>
                        <a:t>Target</a:t>
                      </a:r>
                      <a:endParaRPr lang="en-US" sz="1400" dirty="0"/>
                    </a:p>
                  </a:txBody>
                  <a:tcPr marL="91440" marR="91440" marT="91440" marB="9144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0B3D2E"/>
                    </a:solidFill>
                  </a:tcPr>
                </a:tc>
                <a:tc>
                  <a:txBody>
                    <a:bodyPr/>
                    <a:lstStyle/>
                    <a:p>
                      <a:pPr indent="0" marL="0">
                        <a:buNone/>
                      </a:pPr>
                      <a:r>
                        <a:rPr lang="en-US" sz="1400" b="1" dirty="0">
                          <a:solidFill>
                            <a:srgbClr val="FFFFFF"/>
                          </a:solidFill>
                        </a:rPr>
                        <a:t>Where the target comes from</a:t>
                      </a:r>
                      <a:endParaRPr lang="en-US" sz="1400" dirty="0"/>
                    </a:p>
                  </a:txBody>
                  <a:tcPr marL="91440" marR="91440" marT="91440" marB="9144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0B3D2E"/>
                    </a:solidFill>
                  </a:tcPr>
                </a:tc>
              </a:tr>
              <a:tr h="566928">
                <a:tc>
                  <a:txBody>
                    <a:bodyPr/>
                    <a:lstStyle/>
                    <a:p>
                      <a:pPr indent="0" marL="0">
                        <a:buNone/>
                      </a:pPr>
                      <a:r>
                        <a:rPr lang="en-US" sz="1400" dirty="0">
                          <a:solidFill>
                            <a:srgbClr val="16211C"/>
                          </a:solidFill>
                        </a:rPr>
                        <a:t>Core SKUs with verified cost or confirmed "no purchase"</a:t>
                      </a:r>
                      <a:endParaRPr lang="en-US" sz="1400" dirty="0"/>
                    </a:p>
                  </a:txBody>
                  <a:tcPr marL="91440" marR="91440" marT="91440" marB="9144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FFFFF"/>
                    </a:solidFill>
                  </a:tcPr>
                </a:tc>
                <a:tc>
                  <a:txBody>
                    <a:bodyPr/>
                    <a:lstStyle/>
                    <a:p>
                      <a:pPr indent="0" marL="0">
                        <a:buNone/>
                      </a:pPr>
                      <a:r>
                        <a:rPr lang="en-US" sz="1400" b="1" dirty="0">
                          <a:solidFill>
                            <a:srgbClr val="0C7A5E"/>
                          </a:solidFill>
                        </a:rPr>
                        <a:t>178 of 178 by end of week 2</a:t>
                      </a:r>
                      <a:endParaRPr lang="en-US" sz="1400" dirty="0"/>
                    </a:p>
                  </a:txBody>
                  <a:tcPr marL="91440" marR="91440" marT="91440" marB="9144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FFFFF"/>
                    </a:solidFill>
                  </a:tcPr>
                </a:tc>
                <a:tc>
                  <a:txBody>
                    <a:bodyPr/>
                    <a:lstStyle/>
                    <a:p>
                      <a:pPr indent="0" marL="0">
                        <a:buNone/>
                      </a:pPr>
                      <a:r>
                        <a:rPr lang="en-US" sz="1400" dirty="0">
                          <a:solidFill>
                            <a:srgbClr val="6B776F"/>
                          </a:solidFill>
                        </a:rPr>
                        <a:t>Project brief, Milestone 1</a:t>
                      </a:r>
                      <a:endParaRPr lang="en-US" sz="1400" dirty="0"/>
                    </a:p>
                  </a:txBody>
                  <a:tcPr marL="91440" marR="91440" marT="91440" marB="9144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6211C"/>
                          </a:solidFill>
                        </a:rPr>
                        <a:t>Find a core SKU's price with no signal</a:t>
                      </a:r>
                      <a:endParaRPr lang="en-US" sz="1400" dirty="0"/>
                    </a:p>
                  </a:txBody>
                  <a:tcPr marL="91440" marR="91440" marT="91440" marB="9144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FFFFF"/>
                    </a:solidFill>
                  </a:tcPr>
                </a:tc>
                <a:tc>
                  <a:txBody>
                    <a:bodyPr/>
                    <a:lstStyle/>
                    <a:p>
                      <a:pPr indent="0" marL="0">
                        <a:buNone/>
                      </a:pPr>
                      <a:r>
                        <a:rPr lang="en-US" sz="1400" b="1" dirty="0">
                          <a:solidFill>
                            <a:srgbClr val="0C7A5E"/>
                          </a:solidFill>
                        </a:rPr>
                        <a:t>Under 10 seconds</a:t>
                      </a:r>
                      <a:endParaRPr lang="en-US" sz="1400" dirty="0"/>
                    </a:p>
                  </a:txBody>
                  <a:tcPr marL="91440" marR="91440" marT="91440" marB="9144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FFFFF"/>
                    </a:solidFill>
                  </a:tcPr>
                </a:tc>
                <a:tc>
                  <a:txBody>
                    <a:bodyPr/>
                    <a:lstStyle/>
                    <a:p>
                      <a:pPr indent="0" marL="0">
                        <a:buNone/>
                      </a:pPr>
                      <a:r>
                        <a:rPr lang="en-US" sz="1400" dirty="0">
                          <a:solidFill>
                            <a:srgbClr val="6B776F"/>
                          </a:solidFill>
                        </a:rPr>
                        <a:t>Project brief, Milestone 3</a:t>
                      </a:r>
                      <a:endParaRPr lang="en-US" sz="1400" dirty="0"/>
                    </a:p>
                  </a:txBody>
                  <a:tcPr marL="91440" marR="91440" marT="91440" marB="9144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6211C"/>
                          </a:solidFill>
                        </a:rPr>
                        <a:t>Capture a competitor price</a:t>
                      </a:r>
                      <a:endParaRPr lang="en-US" sz="1400" dirty="0"/>
                    </a:p>
                  </a:txBody>
                  <a:tcPr marL="91440" marR="91440" marT="91440" marB="9144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FFFFF"/>
                    </a:solidFill>
                  </a:tcPr>
                </a:tc>
                <a:tc>
                  <a:txBody>
                    <a:bodyPr/>
                    <a:lstStyle/>
                    <a:p>
                      <a:pPr indent="0" marL="0">
                        <a:buNone/>
                      </a:pPr>
                      <a:r>
                        <a:rPr lang="en-US" sz="1400" b="1" dirty="0">
                          <a:solidFill>
                            <a:srgbClr val="0C7A5E"/>
                          </a:solidFill>
                        </a:rPr>
                        <a:t>3 taps and a number</a:t>
                      </a:r>
                      <a:endParaRPr lang="en-US" sz="1400" dirty="0"/>
                    </a:p>
                  </a:txBody>
                  <a:tcPr marL="91440" marR="91440" marT="91440" marB="9144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FFFFF"/>
                    </a:solidFill>
                  </a:tcPr>
                </a:tc>
                <a:tc>
                  <a:txBody>
                    <a:bodyPr/>
                    <a:lstStyle/>
                    <a:p>
                      <a:pPr indent="0" marL="0">
                        <a:buNone/>
                      </a:pPr>
                      <a:r>
                        <a:rPr lang="en-US" sz="1400" dirty="0">
                          <a:solidFill>
                            <a:srgbClr val="6B776F"/>
                          </a:solidFill>
                        </a:rPr>
                        <a:t>Project brief, Milestone 4</a:t>
                      </a:r>
                      <a:endParaRPr lang="en-US" sz="1400" dirty="0"/>
                    </a:p>
                  </a:txBody>
                  <a:tcPr marL="91440" marR="91440" marT="91440" marB="9144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6211C"/>
                          </a:solidFill>
                        </a:rPr>
                        <a:t>Competitor prices captured per salesperson per week</a:t>
                      </a:r>
                      <a:endParaRPr lang="en-US" sz="1400" dirty="0"/>
                    </a:p>
                  </a:txBody>
                  <a:tcPr marL="91440" marR="91440" marT="91440" marB="9144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FFFFF"/>
                    </a:solidFill>
                  </a:tcPr>
                </a:tc>
                <a:tc>
                  <a:txBody>
                    <a:bodyPr/>
                    <a:lstStyle/>
                    <a:p>
                      <a:pPr indent="0" marL="0">
                        <a:buNone/>
                      </a:pPr>
                      <a:r>
                        <a:rPr lang="en-US" sz="1400" b="1" dirty="0">
                          <a:solidFill>
                            <a:srgbClr val="C08419"/>
                          </a:solidFill>
                        </a:rPr>
                        <a:t>Target to be set by management</a:t>
                      </a:r>
                      <a:endParaRPr lang="en-US" sz="1400" dirty="0"/>
                    </a:p>
                  </a:txBody>
                  <a:tcPr marL="91440" marR="91440" marT="91440" marB="9144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FFFFF"/>
                    </a:solidFill>
                  </a:tcPr>
                </a:tc>
                <a:tc>
                  <a:txBody>
                    <a:bodyPr/>
                    <a:lstStyle/>
                    <a:p>
                      <a:pPr indent="0" marL="0">
                        <a:buNone/>
                      </a:pPr>
                      <a:r>
                        <a:rPr lang="en-US" sz="1400" dirty="0">
                          <a:solidFill>
                            <a:srgbClr val="6B776F"/>
                          </a:solidFill>
                        </a:rPr>
                        <a:t>Decision needed</a:t>
                      </a:r>
                      <a:endParaRPr lang="en-US" sz="1400" dirty="0"/>
                    </a:p>
                  </a:txBody>
                  <a:tcPr marL="91440" marR="91440" marT="91440" marB="9144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6211C"/>
                          </a:solidFill>
                        </a:rPr>
                        <a:t>Quotes at or above floor price</a:t>
                      </a:r>
                      <a:endParaRPr lang="en-US" sz="1400" dirty="0"/>
                    </a:p>
                  </a:txBody>
                  <a:tcPr marL="91440" marR="91440" marT="91440" marB="9144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FFFFF"/>
                    </a:solidFill>
                  </a:tcPr>
                </a:tc>
                <a:tc>
                  <a:txBody>
                    <a:bodyPr/>
                    <a:lstStyle/>
                    <a:p>
                      <a:pPr indent="0" marL="0">
                        <a:buNone/>
                      </a:pPr>
                      <a:r>
                        <a:rPr lang="en-US" sz="1400" b="1" dirty="0">
                          <a:solidFill>
                            <a:srgbClr val="C08419"/>
                          </a:solidFill>
                        </a:rPr>
                        <a:t>Baseline measured during pilot</a:t>
                      </a:r>
                      <a:endParaRPr lang="en-US" sz="1400" dirty="0"/>
                    </a:p>
                  </a:txBody>
                  <a:tcPr marL="91440" marR="91440" marT="91440" marB="9144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FFFFF"/>
                    </a:solidFill>
                  </a:tcPr>
                </a:tc>
                <a:tc>
                  <a:txBody>
                    <a:bodyPr/>
                    <a:lstStyle/>
                    <a:p>
                      <a:pPr indent="0" marL="0">
                        <a:buNone/>
                      </a:pPr>
                      <a:r>
                        <a:rPr lang="en-US" sz="1400" dirty="0">
                          <a:solidFill>
                            <a:srgbClr val="6B776F"/>
                          </a:solidFill>
                        </a:rPr>
                        <a:t>Measured from captures</a:t>
                      </a:r>
                      <a:endParaRPr lang="en-US" sz="1400" dirty="0"/>
                    </a:p>
                  </a:txBody>
                  <a:tcPr marL="91440" marR="91440" marT="91440" marB="9144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FFFFF"/>
                    </a:solidFill>
                  </a:tcPr>
                </a:tc>
              </a:tr>
            </a:tbl>
          </a:graphicData>
        </a:graphic>
      </p:graphicFrame>
      <p:sp>
        <p:nvSpPr>
          <p:cNvPr id="5" name="Target icon circle"/>
          <p:cNvSpPr/>
          <p:nvPr/>
        </p:nvSpPr>
        <p:spPr>
          <a:xfrm>
            <a:off x="548640" y="5349240"/>
            <a:ext cx="502920" cy="502920"/>
          </a:xfrm>
          <a:prstGeom prst="ellipse">
            <a:avLst/>
          </a:prstGeom>
          <a:solidFill>
            <a:schemeClr val="accent2"/>
          </a:solidFill>
          <a:ln w="12700">
            <a:solidFill>
              <a:schemeClr val="accent2"/>
            </a:solidFill>
            <a:prstDash val="solid"/>
          </a:ln>
        </p:spPr>
      </p:sp>
      <p:pic>
        <p:nvPicPr>
          <p:cNvPr id="6" name="Target icon" descr="preencoded.png">    </p:cNvPr>
          <p:cNvPicPr>
            <a:picLocks noChangeAspect="1"/>
          </p:cNvPicPr>
          <p:nvPr/>
        </p:nvPicPr>
        <p:blipFill>
          <a:blip r:embed="rId1"/>
          <a:stretch>
            <a:fillRect/>
          </a:stretch>
        </p:blipFill>
        <p:spPr>
          <a:xfrm>
            <a:off x="669341" y="5469941"/>
            <a:ext cx="261518" cy="261518"/>
          </a:xfrm>
          <a:prstGeom prst="rect">
            <a:avLst/>
          </a:prstGeom>
        </p:spPr>
      </p:pic>
      <p:sp>
        <p:nvSpPr>
          <p:cNvPr id="7" name="Text 3"/>
          <p:cNvSpPr txBox="1"/>
          <p:nvPr/>
        </p:nvSpPr>
        <p:spPr>
          <a:xfrm>
            <a:off x="1234440" y="5349240"/>
            <a:ext cx="7315200" cy="502920"/>
          </a:xfrm>
          <a:prstGeom prst="rect">
            <a:avLst/>
          </a:prstGeom>
          <a:noFill/>
          <a:ln/>
        </p:spPr>
        <p:txBody>
          <a:bodyPr wrap="square" lIns="0" tIns="0" rIns="0" bIns="0" rtlCol="0" anchor="ctr"/>
          <a:lstStyle/>
          <a:p>
            <a:pPr indent="0" marL="0">
              <a:buNone/>
            </a:pPr>
            <a:r>
              <a:rPr lang="en-US" sz="1500" dirty="0">
                <a:solidFill>
                  <a:schemeClr val="tx1"/>
                </a:solidFill>
              </a:rPr>
              <a:t>Amber rows need a management decision before the pilot starts.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b">
            <a:normAutofit/>
          </a:bodyPr>
          <a:lstStyle/>
          <a:p>
            <a:pPr algn="l" indent="0" marL="0">
              <a:buNone/>
            </a:pPr>
            <a:r>
              <a:rPr lang="en-US" sz="3200" b="1" dirty="0">
                <a:solidFill>
                  <a:schemeClr val="tx2"/>
                </a:solidFill>
              </a:rPr>
              <a:t>Risks and how we handle them</a:t>
            </a:r>
            <a:endParaRPr lang="en-US" sz="3200" dirty="0"/>
          </a:p>
        </p:txBody>
      </p:sp>
      <p:sp>
        <p:nvSpPr>
          <p:cNvPr id="3" name="Text 0"/>
          <p:cNvSpPr/>
          <p:nvPr>
            <p:ph idx="101" type="body" hasCustomPrompt="1"/>
          </p:nvPr>
        </p:nvSpPr>
        <p:spPr>
          <a:xfrm>
            <a:off x="548640" y="1024128"/>
            <a:ext cx="11094415" cy="365760"/>
          </a:xfrm>
          <a:prstGeom prst="rect">
            <a:avLst/>
          </a:prstGeom>
          <a:noFill/>
          <a:ln/>
        </p:spPr>
        <p:txBody>
          <a:bodyPr wrap="square" lIns="0" tIns="0" rIns="0" bIns="0" rtlCol="0" anchor="t"/>
          <a:lstStyle/>
          <a:p>
            <a:pPr algn="l" indent="0" marL="0">
              <a:buNone/>
            </a:pPr>
            <a:r>
              <a:rPr lang="en-US" sz="1600" dirty="0">
                <a:solidFill>
                  <a:schemeClr val="accent1"/>
                </a:solidFill>
              </a:rPr>
              <a:t>风险与应对</a:t>
            </a:r>
            <a:endParaRPr lang="en-US" sz="1600" dirty="0"/>
          </a:p>
        </p:txBody>
      </p:sp>
      <p:sp>
        <p:nvSpPr>
          <p:cNvPr id="4" name="Salespeople don't use it circle"/>
          <p:cNvSpPr/>
          <p:nvPr/>
        </p:nvSpPr>
        <p:spPr>
          <a:xfrm>
            <a:off x="548640" y="1645920"/>
            <a:ext cx="502920" cy="502920"/>
          </a:xfrm>
          <a:prstGeom prst="ellipse">
            <a:avLst/>
          </a:prstGeom>
          <a:solidFill>
            <a:schemeClr val="accent2"/>
          </a:solidFill>
          <a:ln w="12700">
            <a:solidFill>
              <a:schemeClr val="accent2"/>
            </a:solidFill>
            <a:prstDash val="solid"/>
          </a:ln>
        </p:spPr>
      </p:sp>
      <p:pic>
        <p:nvPicPr>
          <p:cNvPr id="5" name="Salespeople don't use it" descr="preencoded.png">    </p:cNvPr>
          <p:cNvPicPr>
            <a:picLocks noChangeAspect="1"/>
          </p:cNvPicPr>
          <p:nvPr/>
        </p:nvPicPr>
        <p:blipFill>
          <a:blip r:embed="rId1"/>
          <a:stretch>
            <a:fillRect/>
          </a:stretch>
        </p:blipFill>
        <p:spPr>
          <a:xfrm>
            <a:off x="669341" y="1766621"/>
            <a:ext cx="261518" cy="261518"/>
          </a:xfrm>
          <a:prstGeom prst="rect">
            <a:avLst/>
          </a:prstGeom>
        </p:spPr>
      </p:pic>
      <p:sp>
        <p:nvSpPr>
          <p:cNvPr id="6" name="Text 3"/>
          <p:cNvSpPr txBox="1"/>
          <p:nvPr/>
        </p:nvSpPr>
        <p:spPr>
          <a:xfrm>
            <a:off x="1280160" y="1645920"/>
            <a:ext cx="3566160" cy="502920"/>
          </a:xfrm>
          <a:prstGeom prst="rect">
            <a:avLst/>
          </a:prstGeom>
          <a:noFill/>
          <a:ln/>
        </p:spPr>
        <p:txBody>
          <a:bodyPr wrap="square" lIns="0" tIns="0" rIns="0" bIns="0" rtlCol="0" anchor="ctr"/>
          <a:lstStyle/>
          <a:p>
            <a:pPr indent="0" marL="0">
              <a:buNone/>
            </a:pPr>
            <a:r>
              <a:rPr lang="en-US" sz="1600" b="1" dirty="0">
                <a:solidFill>
                  <a:schemeClr val="tx2"/>
                </a:solidFill>
              </a:rPr>
              <a:t>Salespeople don't use it</a:t>
            </a:r>
            <a:endParaRPr lang="en-US" sz="1600" dirty="0"/>
          </a:p>
        </p:txBody>
      </p:sp>
      <p:sp>
        <p:nvSpPr>
          <p:cNvPr id="7" name="Text 4"/>
          <p:cNvSpPr txBox="1"/>
          <p:nvPr/>
        </p:nvSpPr>
        <p:spPr>
          <a:xfrm>
            <a:off x="4572000" y="1600200"/>
            <a:ext cx="7071055" cy="594360"/>
          </a:xfrm>
          <a:prstGeom prst="rect">
            <a:avLst/>
          </a:prstGeom>
          <a:noFill/>
          <a:ln/>
        </p:spPr>
        <p:txBody>
          <a:bodyPr wrap="square" lIns="0" tIns="0" rIns="0" bIns="0" rtlCol="0" anchor="ctr"/>
          <a:lstStyle/>
          <a:p>
            <a:pPr indent="0" marL="0">
              <a:buNone/>
            </a:pPr>
            <a:r>
              <a:rPr lang="en-US" sz="1400" dirty="0">
                <a:solidFill>
                  <a:schemeClr val="tx1"/>
                </a:solidFill>
              </a:rPr>
              <a:t>Chinese-first, phone-first, offline, capture in about 15 seconds. Weekly capture counts reviewed by the owner.</a:t>
            </a:r>
            <a:endParaRPr lang="en-US" sz="1400" dirty="0"/>
          </a:p>
        </p:txBody>
      </p:sp>
      <p:sp>
        <p:nvSpPr>
          <p:cNvPr id="8" name="Unit or cost data is wrong circle"/>
          <p:cNvSpPr/>
          <p:nvPr/>
        </p:nvSpPr>
        <p:spPr>
          <a:xfrm>
            <a:off x="548640" y="2487168"/>
            <a:ext cx="502920" cy="502920"/>
          </a:xfrm>
          <a:prstGeom prst="ellipse">
            <a:avLst/>
          </a:prstGeom>
          <a:solidFill>
            <a:schemeClr val="accent2"/>
          </a:solidFill>
          <a:ln w="12700">
            <a:solidFill>
              <a:schemeClr val="accent2"/>
            </a:solidFill>
            <a:prstDash val="solid"/>
          </a:ln>
        </p:spPr>
      </p:sp>
      <p:pic>
        <p:nvPicPr>
          <p:cNvPr id="9" name="Unit or cost data is wrong" descr="preencoded.png">    </p:cNvPr>
          <p:cNvPicPr>
            <a:picLocks noChangeAspect="1"/>
          </p:cNvPicPr>
          <p:nvPr/>
        </p:nvPicPr>
        <p:blipFill>
          <a:blip r:embed="rId2"/>
          <a:stretch>
            <a:fillRect/>
          </a:stretch>
        </p:blipFill>
        <p:spPr>
          <a:xfrm>
            <a:off x="669341" y="2607869"/>
            <a:ext cx="261518" cy="261518"/>
          </a:xfrm>
          <a:prstGeom prst="rect">
            <a:avLst/>
          </a:prstGeom>
        </p:spPr>
      </p:pic>
      <p:sp>
        <p:nvSpPr>
          <p:cNvPr id="10" name="Text 6"/>
          <p:cNvSpPr txBox="1"/>
          <p:nvPr/>
        </p:nvSpPr>
        <p:spPr>
          <a:xfrm>
            <a:off x="1280160" y="2487168"/>
            <a:ext cx="3566160" cy="502920"/>
          </a:xfrm>
          <a:prstGeom prst="rect">
            <a:avLst/>
          </a:prstGeom>
          <a:noFill/>
          <a:ln/>
        </p:spPr>
        <p:txBody>
          <a:bodyPr wrap="square" lIns="0" tIns="0" rIns="0" bIns="0" rtlCol="0" anchor="ctr"/>
          <a:lstStyle/>
          <a:p>
            <a:pPr indent="0" marL="0">
              <a:buNone/>
            </a:pPr>
            <a:r>
              <a:rPr lang="en-US" sz="1600" b="1" dirty="0">
                <a:solidFill>
                  <a:schemeClr val="tx2"/>
                </a:solidFill>
              </a:rPr>
              <a:t>Unit or cost data is wrong</a:t>
            </a:r>
            <a:endParaRPr lang="en-US" sz="1600" dirty="0"/>
          </a:p>
        </p:txBody>
      </p:sp>
      <p:sp>
        <p:nvSpPr>
          <p:cNvPr id="11" name="Text 7"/>
          <p:cNvSpPr txBox="1"/>
          <p:nvPr/>
        </p:nvSpPr>
        <p:spPr>
          <a:xfrm>
            <a:off x="4572000" y="2441448"/>
            <a:ext cx="7071055" cy="594360"/>
          </a:xfrm>
          <a:prstGeom prst="rect">
            <a:avLst/>
          </a:prstGeom>
          <a:noFill/>
          <a:ln/>
        </p:spPr>
        <p:txBody>
          <a:bodyPr wrap="square" lIns="0" tIns="0" rIns="0" bIns="0" rtlCol="0" anchor="ctr"/>
          <a:lstStyle/>
          <a:p>
            <a:pPr indent="0" marL="0">
              <a:buNone/>
            </a:pPr>
            <a:r>
              <a:rPr lang="en-US" sz="1400" dirty="0">
                <a:solidFill>
                  <a:schemeClr val="tx1"/>
                </a:solidFill>
              </a:rPr>
              <a:t>Only human-verified costs drive margin. Unverified SKUs show no margin at all.</a:t>
            </a:r>
            <a:endParaRPr lang="en-US" sz="1400" dirty="0"/>
          </a:p>
        </p:txBody>
      </p:sp>
      <p:sp>
        <p:nvSpPr>
          <p:cNvPr id="12" name="Cost leaks to customers circle"/>
          <p:cNvSpPr/>
          <p:nvPr/>
        </p:nvSpPr>
        <p:spPr>
          <a:xfrm>
            <a:off x="548640" y="3328416"/>
            <a:ext cx="502920" cy="502920"/>
          </a:xfrm>
          <a:prstGeom prst="ellipse">
            <a:avLst/>
          </a:prstGeom>
          <a:solidFill>
            <a:schemeClr val="accent2"/>
          </a:solidFill>
          <a:ln w="12700">
            <a:solidFill>
              <a:schemeClr val="accent2"/>
            </a:solidFill>
            <a:prstDash val="solid"/>
          </a:ln>
        </p:spPr>
      </p:sp>
      <p:pic>
        <p:nvPicPr>
          <p:cNvPr id="13" name="Cost leaks to customers" descr="preencoded.png">    </p:cNvPr>
          <p:cNvPicPr>
            <a:picLocks noChangeAspect="1"/>
          </p:cNvPicPr>
          <p:nvPr/>
        </p:nvPicPr>
        <p:blipFill>
          <a:blip r:embed="rId3"/>
          <a:stretch>
            <a:fillRect/>
          </a:stretch>
        </p:blipFill>
        <p:spPr>
          <a:xfrm>
            <a:off x="669341" y="3449117"/>
            <a:ext cx="261518" cy="261518"/>
          </a:xfrm>
          <a:prstGeom prst="rect">
            <a:avLst/>
          </a:prstGeom>
        </p:spPr>
      </p:pic>
      <p:sp>
        <p:nvSpPr>
          <p:cNvPr id="14" name="Text 9"/>
          <p:cNvSpPr txBox="1"/>
          <p:nvPr/>
        </p:nvSpPr>
        <p:spPr>
          <a:xfrm>
            <a:off x="1280160" y="3328416"/>
            <a:ext cx="3566160" cy="502920"/>
          </a:xfrm>
          <a:prstGeom prst="rect">
            <a:avLst/>
          </a:prstGeom>
          <a:noFill/>
          <a:ln/>
        </p:spPr>
        <p:txBody>
          <a:bodyPr wrap="square" lIns="0" tIns="0" rIns="0" bIns="0" rtlCol="0" anchor="ctr"/>
          <a:lstStyle/>
          <a:p>
            <a:pPr indent="0" marL="0">
              <a:buNone/>
            </a:pPr>
            <a:r>
              <a:rPr lang="en-US" sz="1600" b="1" dirty="0">
                <a:solidFill>
                  <a:schemeClr val="tx2"/>
                </a:solidFill>
              </a:rPr>
              <a:t>Cost leaks to customers</a:t>
            </a:r>
            <a:endParaRPr lang="en-US" sz="1600" dirty="0"/>
          </a:p>
        </p:txBody>
      </p:sp>
      <p:sp>
        <p:nvSpPr>
          <p:cNvPr id="15" name="Text 10"/>
          <p:cNvSpPr txBox="1"/>
          <p:nvPr/>
        </p:nvSpPr>
        <p:spPr>
          <a:xfrm>
            <a:off x="4572000" y="3282696"/>
            <a:ext cx="7071055" cy="594360"/>
          </a:xfrm>
          <a:prstGeom prst="rect">
            <a:avLst/>
          </a:prstGeom>
          <a:noFill/>
          <a:ln/>
        </p:spPr>
        <p:txBody>
          <a:bodyPr wrap="square" lIns="0" tIns="0" rIns="0" bIns="0" rtlCol="0" anchor="ctr"/>
          <a:lstStyle/>
          <a:p>
            <a:pPr indent="0" marL="0">
              <a:buNone/>
            </a:pPr>
            <a:r>
              <a:rPr lang="en-US" sz="1400" dirty="0">
                <a:solidFill>
                  <a:schemeClr val="tx1"/>
                </a:solidFill>
              </a:rPr>
              <a:t>Salespeople's phones never receive cost or margin; enforced on the server.</a:t>
            </a:r>
            <a:endParaRPr lang="en-US" sz="1400" dirty="0"/>
          </a:p>
        </p:txBody>
      </p:sp>
      <p:sp>
        <p:nvSpPr>
          <p:cNvPr id="16" name="Pilot hosting is light circle"/>
          <p:cNvSpPr/>
          <p:nvPr/>
        </p:nvSpPr>
        <p:spPr>
          <a:xfrm>
            <a:off x="548640" y="4169664"/>
            <a:ext cx="502920" cy="502920"/>
          </a:xfrm>
          <a:prstGeom prst="ellipse">
            <a:avLst/>
          </a:prstGeom>
          <a:solidFill>
            <a:schemeClr val="accent2"/>
          </a:solidFill>
          <a:ln w="12700">
            <a:solidFill>
              <a:schemeClr val="accent2"/>
            </a:solidFill>
            <a:prstDash val="solid"/>
          </a:ln>
        </p:spPr>
      </p:sp>
      <p:pic>
        <p:nvPicPr>
          <p:cNvPr id="17" name="Pilot hosting is light" descr="preencoded.png">    </p:cNvPr>
          <p:cNvPicPr>
            <a:picLocks noChangeAspect="1"/>
          </p:cNvPicPr>
          <p:nvPr/>
        </p:nvPicPr>
        <p:blipFill>
          <a:blip r:embed="rId4"/>
          <a:stretch>
            <a:fillRect/>
          </a:stretch>
        </p:blipFill>
        <p:spPr>
          <a:xfrm>
            <a:off x="669341" y="4290365"/>
            <a:ext cx="261518" cy="261518"/>
          </a:xfrm>
          <a:prstGeom prst="rect">
            <a:avLst/>
          </a:prstGeom>
        </p:spPr>
      </p:pic>
      <p:sp>
        <p:nvSpPr>
          <p:cNvPr id="18" name="Text 12"/>
          <p:cNvSpPr txBox="1"/>
          <p:nvPr/>
        </p:nvSpPr>
        <p:spPr>
          <a:xfrm>
            <a:off x="1280160" y="4169664"/>
            <a:ext cx="3566160" cy="502920"/>
          </a:xfrm>
          <a:prstGeom prst="rect">
            <a:avLst/>
          </a:prstGeom>
          <a:noFill/>
          <a:ln/>
        </p:spPr>
        <p:txBody>
          <a:bodyPr wrap="square" lIns="0" tIns="0" rIns="0" bIns="0" rtlCol="0" anchor="ctr"/>
          <a:lstStyle/>
          <a:p>
            <a:pPr indent="0" marL="0">
              <a:buNone/>
            </a:pPr>
            <a:r>
              <a:rPr lang="en-US" sz="1600" b="1" dirty="0">
                <a:solidFill>
                  <a:schemeClr val="tx2"/>
                </a:solidFill>
              </a:rPr>
              <a:t>Pilot hosting is light</a:t>
            </a:r>
            <a:endParaRPr lang="en-US" sz="1600" dirty="0"/>
          </a:p>
        </p:txBody>
      </p:sp>
      <p:sp>
        <p:nvSpPr>
          <p:cNvPr id="19" name="Text 13"/>
          <p:cNvSpPr txBox="1"/>
          <p:nvPr/>
        </p:nvSpPr>
        <p:spPr>
          <a:xfrm>
            <a:off x="4572000" y="4123944"/>
            <a:ext cx="7071055" cy="594360"/>
          </a:xfrm>
          <a:prstGeom prst="rect">
            <a:avLst/>
          </a:prstGeom>
          <a:noFill/>
          <a:ln/>
        </p:spPr>
        <p:txBody>
          <a:bodyPr wrap="square" lIns="0" tIns="0" rIns="0" bIns="0" rtlCol="0" anchor="ctr"/>
          <a:lstStyle/>
          <a:p>
            <a:pPr indent="0" marL="0">
              <a:buNone/>
            </a:pPr>
            <a:r>
              <a:rPr lang="en-US" sz="1400" dirty="0">
                <a:solidFill>
                  <a:schemeClr val="tx1"/>
                </a:solidFill>
              </a:rPr>
              <a:t>Fine for about 10 users. Move to a small dedicated server before company-wide reliance.</a:t>
            </a:r>
            <a:endParaRPr lang="en-US" sz="1400" dirty="0"/>
          </a:p>
        </p:txBody>
      </p:sp>
      <p:sp>
        <p:nvSpPr>
          <p:cNvPr id="20" name="Depends on one person for cost circle"/>
          <p:cNvSpPr/>
          <p:nvPr/>
        </p:nvSpPr>
        <p:spPr>
          <a:xfrm>
            <a:off x="548640" y="5010912"/>
            <a:ext cx="502920" cy="502920"/>
          </a:xfrm>
          <a:prstGeom prst="ellipse">
            <a:avLst/>
          </a:prstGeom>
          <a:solidFill>
            <a:schemeClr val="accent2"/>
          </a:solidFill>
          <a:ln w="12700">
            <a:solidFill>
              <a:schemeClr val="accent2"/>
            </a:solidFill>
            <a:prstDash val="solid"/>
          </a:ln>
        </p:spPr>
      </p:sp>
      <p:pic>
        <p:nvPicPr>
          <p:cNvPr id="21" name="Depends on one person for cost" descr="preencoded.png">    </p:cNvPr>
          <p:cNvPicPr>
            <a:picLocks noChangeAspect="1"/>
          </p:cNvPicPr>
          <p:nvPr/>
        </p:nvPicPr>
        <p:blipFill>
          <a:blip r:embed="rId5"/>
          <a:stretch>
            <a:fillRect/>
          </a:stretch>
        </p:blipFill>
        <p:spPr>
          <a:xfrm>
            <a:off x="669341" y="5131613"/>
            <a:ext cx="261518" cy="261518"/>
          </a:xfrm>
          <a:prstGeom prst="rect">
            <a:avLst/>
          </a:prstGeom>
        </p:spPr>
      </p:pic>
      <p:sp>
        <p:nvSpPr>
          <p:cNvPr id="22" name="Text 15"/>
          <p:cNvSpPr txBox="1"/>
          <p:nvPr/>
        </p:nvSpPr>
        <p:spPr>
          <a:xfrm>
            <a:off x="1280160" y="5010912"/>
            <a:ext cx="3566160" cy="502920"/>
          </a:xfrm>
          <a:prstGeom prst="rect">
            <a:avLst/>
          </a:prstGeom>
          <a:noFill/>
          <a:ln/>
        </p:spPr>
        <p:txBody>
          <a:bodyPr wrap="square" lIns="0" tIns="0" rIns="0" bIns="0" rtlCol="0" anchor="ctr"/>
          <a:lstStyle/>
          <a:p>
            <a:pPr indent="0" marL="0">
              <a:buNone/>
            </a:pPr>
            <a:r>
              <a:rPr lang="en-US" sz="1600" b="1" dirty="0">
                <a:solidFill>
                  <a:schemeClr val="tx2"/>
                </a:solidFill>
              </a:rPr>
              <a:t>Depends on one person for cost</a:t>
            </a:r>
            <a:endParaRPr lang="en-US" sz="1600" dirty="0"/>
          </a:p>
        </p:txBody>
      </p:sp>
      <p:sp>
        <p:nvSpPr>
          <p:cNvPr id="23" name="Text 16"/>
          <p:cNvSpPr txBox="1"/>
          <p:nvPr/>
        </p:nvSpPr>
        <p:spPr>
          <a:xfrm>
            <a:off x="4572000" y="4965192"/>
            <a:ext cx="7071055" cy="594360"/>
          </a:xfrm>
          <a:prstGeom prst="rect">
            <a:avLst/>
          </a:prstGeom>
          <a:noFill/>
          <a:ln/>
        </p:spPr>
        <p:txBody>
          <a:bodyPr wrap="square" lIns="0" tIns="0" rIns="0" bIns="0" rtlCol="0" anchor="ctr"/>
          <a:lstStyle/>
          <a:p>
            <a:pPr indent="0" marL="0">
              <a:buNone/>
            </a:pPr>
            <a:r>
              <a:rPr lang="en-US" sz="1400" dirty="0">
                <a:solidFill>
                  <a:schemeClr val="tx1"/>
                </a:solidFill>
              </a:rPr>
              <a:t>Workbook split by owner; progress visible on screen; finance and purchasing share the UOM task.</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31520"/>
          </a:xfrm>
          <a:prstGeom prst="rect">
            <a:avLst/>
          </a:prstGeom>
          <a:noFill/>
          <a:ln/>
        </p:spPr>
        <p:txBody>
          <a:bodyPr wrap="square" lIns="0" tIns="0" rIns="0" bIns="0" rtlCol="0" anchor="b"/>
          <a:lstStyle/>
          <a:p>
            <a:pPr algn="l" indent="0" marL="0">
              <a:buNone/>
            </a:pPr>
            <a:r>
              <a:rPr lang="en-US" sz="3600" b="1" dirty="0">
                <a:solidFill>
                  <a:schemeClr val="bg1"/>
                </a:solidFill>
              </a:rPr>
              <a:t>Decisions needed today</a:t>
            </a:r>
            <a:endParaRPr lang="en-US" sz="3600" dirty="0"/>
          </a:p>
        </p:txBody>
      </p:sp>
      <p:sp>
        <p:nvSpPr>
          <p:cNvPr id="3" name="Text 0"/>
          <p:cNvSpPr/>
          <p:nvPr>
            <p:ph idx="101" type="body" hasCustomPrompt="1"/>
          </p:nvPr>
        </p:nvSpPr>
        <p:spPr>
          <a:xfrm>
            <a:off x="548640" y="1170432"/>
            <a:ext cx="11094415" cy="365760"/>
          </a:xfrm>
          <a:prstGeom prst="rect">
            <a:avLst/>
          </a:prstGeom>
          <a:noFill/>
          <a:ln/>
        </p:spPr>
        <p:txBody>
          <a:bodyPr wrap="square" lIns="0" tIns="0" rIns="0" bIns="0" rtlCol="0" anchor="t"/>
          <a:lstStyle/>
          <a:p>
            <a:pPr algn="l" indent="0" marL="0">
              <a:buNone/>
            </a:pPr>
            <a:r>
              <a:rPr lang="en-US" sz="1600" dirty="0">
                <a:solidFill>
                  <a:schemeClr val="accent6"/>
                </a:solidFill>
              </a:rPr>
              <a:t>今天需要的决定</a:t>
            </a:r>
            <a:endParaRPr lang="en-US" sz="1600" dirty="0"/>
          </a:p>
        </p:txBody>
      </p:sp>
      <p:sp>
        <p:nvSpPr>
          <p:cNvPr id="4" name="Decision 1"/>
          <p:cNvSpPr/>
          <p:nvPr/>
        </p:nvSpPr>
        <p:spPr>
          <a:xfrm>
            <a:off x="548640" y="1920240"/>
            <a:ext cx="566928" cy="566928"/>
          </a:xfrm>
          <a:prstGeom prst="ellipse">
            <a:avLst/>
          </a:prstGeom>
          <a:solidFill>
            <a:schemeClr val="accent2"/>
          </a:solidFill>
          <a:ln w="12700">
            <a:solidFill>
              <a:schemeClr val="accent2"/>
            </a:solidFill>
            <a:prstDash val="solid"/>
          </a:ln>
        </p:spPr>
      </p:sp>
      <p:sp>
        <p:nvSpPr>
          <p:cNvPr id="5" name="Text 3"/>
          <p:cNvSpPr txBox="1"/>
          <p:nvPr/>
        </p:nvSpPr>
        <p:spPr>
          <a:xfrm>
            <a:off x="548640" y="19202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rPr>
              <a:t>1</a:t>
            </a:r>
            <a:endParaRPr lang="en-US" sz="2000" dirty="0"/>
          </a:p>
        </p:txBody>
      </p:sp>
      <p:sp>
        <p:nvSpPr>
          <p:cNvPr id="6" name="Text 4"/>
          <p:cNvSpPr txBox="1"/>
          <p:nvPr/>
        </p:nvSpPr>
        <p:spPr>
          <a:xfrm>
            <a:off x="1371600" y="1847088"/>
            <a:ext cx="6766560" cy="868680"/>
          </a:xfrm>
          <a:prstGeom prst="rect">
            <a:avLst/>
          </a:prstGeom>
          <a:noFill/>
          <a:ln/>
        </p:spPr>
        <p:txBody>
          <a:bodyPr wrap="square" lIns="0" tIns="0" rIns="0" bIns="0" rtlCol="0" anchor="ctr"/>
          <a:lstStyle/>
          <a:p>
            <a:pPr indent="0" marL="0">
              <a:buNone/>
            </a:pPr>
            <a:r>
              <a:rPr lang="en-US" sz="2000" b="1" dirty="0">
                <a:solidFill>
                  <a:schemeClr val="bg1"/>
                </a:solidFill>
              </a:rPr>
              <a:t>Approve a three-week pilot</a:t>
            </a:r>
            <a:endParaRPr lang="en-US" sz="2000" dirty="0"/>
          </a:p>
          <a:p>
            <a:pPr indent="0" marL="0">
              <a:buNone/>
            </a:pPr>
            <a:r>
              <a:rPr lang="en-US" sz="1500" dirty="0">
                <a:solidFill>
                  <a:schemeClr val="accent6"/>
                </a:solidFill>
              </a:rPr>
              <a:t>On the 178 core SKUs, starting on a date we fix today.</a:t>
            </a:r>
            <a:endParaRPr lang="en-US" sz="2000" dirty="0"/>
          </a:p>
        </p:txBody>
      </p:sp>
      <p:sp>
        <p:nvSpPr>
          <p:cNvPr id="7" name="Decision 2"/>
          <p:cNvSpPr/>
          <p:nvPr/>
        </p:nvSpPr>
        <p:spPr>
          <a:xfrm>
            <a:off x="548640" y="2944368"/>
            <a:ext cx="566928" cy="566928"/>
          </a:xfrm>
          <a:prstGeom prst="ellipse">
            <a:avLst/>
          </a:prstGeom>
          <a:solidFill>
            <a:schemeClr val="accent2"/>
          </a:solidFill>
          <a:ln w="12700">
            <a:solidFill>
              <a:schemeClr val="accent2"/>
            </a:solidFill>
            <a:prstDash val="solid"/>
          </a:ln>
        </p:spPr>
      </p:sp>
      <p:sp>
        <p:nvSpPr>
          <p:cNvPr id="8" name="Text 6"/>
          <p:cNvSpPr txBox="1"/>
          <p:nvPr/>
        </p:nvSpPr>
        <p:spPr>
          <a:xfrm>
            <a:off x="548640" y="294436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rPr>
              <a:t>2</a:t>
            </a:r>
            <a:endParaRPr lang="en-US" sz="2000" dirty="0"/>
          </a:p>
        </p:txBody>
      </p:sp>
      <p:sp>
        <p:nvSpPr>
          <p:cNvPr id="9" name="Text 7"/>
          <p:cNvSpPr txBox="1"/>
          <p:nvPr/>
        </p:nvSpPr>
        <p:spPr>
          <a:xfrm>
            <a:off x="1371600" y="2871216"/>
            <a:ext cx="6766560" cy="868680"/>
          </a:xfrm>
          <a:prstGeom prst="rect">
            <a:avLst/>
          </a:prstGeom>
          <a:noFill/>
          <a:ln/>
        </p:spPr>
        <p:txBody>
          <a:bodyPr wrap="square" lIns="0" tIns="0" rIns="0" bIns="0" rtlCol="0" anchor="ctr"/>
          <a:lstStyle/>
          <a:p>
            <a:pPr indent="0" marL="0">
              <a:buNone/>
            </a:pPr>
            <a:r>
              <a:rPr lang="en-US" sz="2000" b="1" dirty="0">
                <a:solidFill>
                  <a:schemeClr val="bg1"/>
                </a:solidFill>
              </a:rPr>
              <a:t>Name the owners</a:t>
            </a:r>
            <a:endParaRPr lang="en-US" sz="2000" dirty="0"/>
          </a:p>
          <a:p>
            <a:pPr indent="0" marL="0">
              <a:buNone/>
            </a:pPr>
            <a:r>
              <a:rPr lang="en-US" sz="1500" dirty="0">
                <a:solidFill>
                  <a:schemeClr val="accent6"/>
                </a:solidFill>
              </a:rPr>
              <a:t>Finance: unit reconciliation and prices. Owner: tiers and rules. Clerk: users and UBS exports.</a:t>
            </a:r>
            <a:endParaRPr lang="en-US" sz="2000" dirty="0"/>
          </a:p>
        </p:txBody>
      </p:sp>
      <p:sp>
        <p:nvSpPr>
          <p:cNvPr id="10" name="Decision 3"/>
          <p:cNvSpPr/>
          <p:nvPr/>
        </p:nvSpPr>
        <p:spPr>
          <a:xfrm>
            <a:off x="548640" y="3968496"/>
            <a:ext cx="566928" cy="566928"/>
          </a:xfrm>
          <a:prstGeom prst="ellipse">
            <a:avLst/>
          </a:prstGeom>
          <a:solidFill>
            <a:schemeClr val="accent2"/>
          </a:solidFill>
          <a:ln w="12700">
            <a:solidFill>
              <a:schemeClr val="accent2"/>
            </a:solidFill>
            <a:prstDash val="solid"/>
          </a:ln>
        </p:spPr>
      </p:sp>
      <p:sp>
        <p:nvSpPr>
          <p:cNvPr id="11" name="Text 9"/>
          <p:cNvSpPr txBox="1"/>
          <p:nvPr/>
        </p:nvSpPr>
        <p:spPr>
          <a:xfrm>
            <a:off x="548640" y="396849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rPr>
              <a:t>3</a:t>
            </a:r>
            <a:endParaRPr lang="en-US" sz="2000" dirty="0"/>
          </a:p>
        </p:txBody>
      </p:sp>
      <p:sp>
        <p:nvSpPr>
          <p:cNvPr id="12" name="Text 10"/>
          <p:cNvSpPr txBox="1"/>
          <p:nvPr/>
        </p:nvSpPr>
        <p:spPr>
          <a:xfrm>
            <a:off x="1371600" y="3895344"/>
            <a:ext cx="6766560" cy="868680"/>
          </a:xfrm>
          <a:prstGeom prst="rect">
            <a:avLst/>
          </a:prstGeom>
          <a:noFill/>
          <a:ln/>
        </p:spPr>
        <p:txBody>
          <a:bodyPr wrap="square" lIns="0" tIns="0" rIns="0" bIns="0" rtlCol="0" anchor="ctr"/>
          <a:lstStyle/>
          <a:p>
            <a:pPr indent="0" marL="0">
              <a:buNone/>
            </a:pPr>
            <a:r>
              <a:rPr lang="en-US" sz="2000" b="1" dirty="0">
                <a:solidFill>
                  <a:schemeClr val="bg1"/>
                </a:solidFill>
              </a:rPr>
              <a:t>Confirm the cost rule</a:t>
            </a:r>
            <a:endParaRPr lang="en-US" sz="2000" dirty="0"/>
          </a:p>
          <a:p>
            <a:pPr indent="0" marL="0">
              <a:buNone/>
            </a:pPr>
            <a:r>
              <a:rPr lang="en-US" sz="1500" dirty="0">
                <a:solidFill>
                  <a:schemeClr val="accent6"/>
                </a:solidFill>
              </a:rPr>
              <a:t>Salespeople see list and floor price only; owner and finance see cost and margin.</a:t>
            </a:r>
            <a:endParaRPr lang="en-US" sz="2000" dirty="0"/>
          </a:p>
        </p:txBody>
      </p:sp>
      <p:sp>
        <p:nvSpPr>
          <p:cNvPr id="13" name="Decision 4"/>
          <p:cNvSpPr/>
          <p:nvPr/>
        </p:nvSpPr>
        <p:spPr>
          <a:xfrm>
            <a:off x="548640" y="4992624"/>
            <a:ext cx="566928" cy="566928"/>
          </a:xfrm>
          <a:prstGeom prst="ellipse">
            <a:avLst/>
          </a:prstGeom>
          <a:solidFill>
            <a:schemeClr val="accent2"/>
          </a:solidFill>
          <a:ln w="12700">
            <a:solidFill>
              <a:schemeClr val="accent2"/>
            </a:solidFill>
            <a:prstDash val="solid"/>
          </a:ln>
        </p:spPr>
      </p:sp>
      <p:sp>
        <p:nvSpPr>
          <p:cNvPr id="14" name="Text 12"/>
          <p:cNvSpPr txBox="1"/>
          <p:nvPr/>
        </p:nvSpPr>
        <p:spPr>
          <a:xfrm>
            <a:off x="548640" y="499262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rPr>
              <a:t>4</a:t>
            </a:r>
            <a:endParaRPr lang="en-US" sz="2000" dirty="0"/>
          </a:p>
        </p:txBody>
      </p:sp>
      <p:sp>
        <p:nvSpPr>
          <p:cNvPr id="15" name="Text 13"/>
          <p:cNvSpPr txBox="1"/>
          <p:nvPr/>
        </p:nvSpPr>
        <p:spPr>
          <a:xfrm>
            <a:off x="1371600" y="4919472"/>
            <a:ext cx="6766560" cy="868680"/>
          </a:xfrm>
          <a:prstGeom prst="rect">
            <a:avLst/>
          </a:prstGeom>
          <a:noFill/>
          <a:ln/>
        </p:spPr>
        <p:txBody>
          <a:bodyPr wrap="square" lIns="0" tIns="0" rIns="0" bIns="0" rtlCol="0" anchor="ctr"/>
          <a:lstStyle/>
          <a:p>
            <a:pPr indent="0" marL="0">
              <a:buNone/>
            </a:pPr>
            <a:r>
              <a:rPr lang="en-US" sz="2000" b="1" dirty="0">
                <a:solidFill>
                  <a:schemeClr val="bg1"/>
                </a:solidFill>
              </a:rPr>
              <a:t>Agree the success targets</a:t>
            </a:r>
            <a:endParaRPr lang="en-US" sz="2000" dirty="0"/>
          </a:p>
          <a:p>
            <a:pPr indent="0" marL="0">
              <a:buNone/>
            </a:pPr>
            <a:r>
              <a:rPr lang="en-US" sz="1500" dirty="0">
                <a:solidFill>
                  <a:schemeClr val="accent6"/>
                </a:solidFill>
              </a:rPr>
              <a:t>Including expected competitor captures per salesperson per week.</a:t>
            </a:r>
            <a:endParaRPr lang="en-US" sz="2000" dirty="0"/>
          </a:p>
        </p:txBody>
      </p:sp>
      <p:sp>
        <p:nvSpPr>
          <p:cNvPr id="16" name="Ready now panel"/>
          <p:cNvSpPr/>
          <p:nvPr/>
        </p:nvSpPr>
        <p:spPr>
          <a:xfrm>
            <a:off x="8321040" y="1920240"/>
            <a:ext cx="3322015" cy="2514600"/>
          </a:xfrm>
          <a:prstGeom prst="roundRect">
            <a:avLst>
              <a:gd name="adj" fmla="val 4364"/>
            </a:avLst>
          </a:prstGeom>
          <a:solidFill>
            <a:srgbClr val="134C3B"/>
          </a:solidFill>
          <a:ln w="12700">
            <a:solidFill>
              <a:srgbClr val="134C3B"/>
            </a:solidFill>
            <a:prstDash val="solid"/>
          </a:ln>
        </p:spPr>
      </p:sp>
      <p:sp>
        <p:nvSpPr>
          <p:cNvPr id="17" name="Text 15"/>
          <p:cNvSpPr txBox="1"/>
          <p:nvPr/>
        </p:nvSpPr>
        <p:spPr>
          <a:xfrm>
            <a:off x="8595360" y="2148840"/>
            <a:ext cx="2773375" cy="2148840"/>
          </a:xfrm>
          <a:prstGeom prst="rect">
            <a:avLst/>
          </a:prstGeom>
          <a:noFill/>
          <a:ln/>
        </p:spPr>
        <p:txBody>
          <a:bodyPr wrap="square" lIns="0" tIns="0" rIns="0" bIns="0" rtlCol="0" anchor="t"/>
          <a:lstStyle/>
          <a:p>
            <a:pPr indent="0" marL="0">
              <a:spcAft>
                <a:spcPts val="800"/>
              </a:spcAft>
              <a:buNone/>
            </a:pPr>
            <a:r>
              <a:rPr lang="en-US" sz="1600" b="1" dirty="0">
                <a:solidFill>
                  <a:schemeClr val="bg1"/>
                </a:solidFill>
              </a:rPr>
              <a:t>Ready to send today</a:t>
            </a:r>
            <a:endParaRPr lang="en-US" sz="1600" dirty="0"/>
          </a:p>
          <a:p>
            <a:pPr marL="342900" indent="-342900">
              <a:spcAft>
                <a:spcPts val="800"/>
              </a:spcAft>
              <a:buSzPct val="100000"/>
              <a:buChar char="•"/>
            </a:pPr>
            <a:r>
              <a:rPr lang="en-US" sz="1400" dirty="0">
                <a:solidFill>
                  <a:schemeClr val="accent6"/>
                </a:solidFill>
              </a:rPr>
              <a:t>Bilingual data-request workbook (8 sheets) and cover memo</a:t>
            </a:r>
            <a:endParaRPr lang="en-US" sz="1600" dirty="0"/>
          </a:p>
          <a:p>
            <a:pPr marL="342900" indent="-342900">
              <a:spcAft>
                <a:spcPts val="800"/>
              </a:spcAft>
              <a:buSzPct val="100000"/>
              <a:buChar char="•"/>
            </a:pPr>
            <a:r>
              <a:rPr lang="en-US" sz="1400" dirty="0">
                <a:solidFill>
                  <a:schemeClr val="accent6"/>
                </a:solidFill>
              </a:rPr>
              <a:t>Live app on sample data for training</a:t>
            </a:r>
            <a:endParaRPr lang="en-US" sz="1600" dirty="0"/>
          </a:p>
          <a:p>
            <a:pPr marL="342900" indent="-342900">
              <a:spcAft>
                <a:spcPts val="800"/>
              </a:spcAft>
              <a:buSzPct val="100000"/>
              <a:buChar char="•"/>
            </a:pPr>
            <a:r>
              <a:rPr lang="en-US" sz="1400" dirty="0">
                <a:solidFill>
                  <a:schemeClr val="accent6"/>
                </a:solidFill>
              </a:rPr>
              <a:t>Owner login set up</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SK Keong Forest">
  <a:themeElements>
    <a:clrScheme name="SK Keong Forest">
      <a:dk1>
        <a:srgbClr val="16211C"/>
      </a:dk1>
      <a:lt1>
        <a:srgbClr val="FFFFFF"/>
      </a:lt1>
      <a:dk2>
        <a:srgbClr val="0B3D2E"/>
      </a:dk2>
      <a:lt2>
        <a:srgbClr val="EEF3F0"/>
      </a:lt2>
      <a:accent1>
        <a:srgbClr val="0C7A5E"/>
      </a:accent1>
      <a:accent2>
        <a:srgbClr val="C08419"/>
      </a:accent2>
      <a:accent3>
        <a:srgbClr val="B23A3A"/>
      </a:accent3>
      <a:accent4>
        <a:srgbClr val="2F5F9E"/>
      </a:accent4>
      <a:accent5>
        <a:srgbClr val="6B776F"/>
      </a:accent5>
      <a:accent6>
        <a:srgbClr val="7FD3B4"/>
      </a:accent6>
      <a:hlink>
        <a:srgbClr val="0C7A5E"/>
      </a:hlink>
      <a:folHlink>
        <a:srgbClr val="075C46"/>
      </a:folHlink>
    </a:clrScheme>
    <a:fontScheme name="SK Keong Fores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SK Keong Trading Sdn. Bhd.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 Keong pricing app: proposal to management</dc:title>
  <dc:subject>PptxGenJS Presentation</dc:subject>
  <dc:creator>SK Keong pricing app project</dc:creator>
  <cp:lastModifiedBy>SK Keong pricing app project</cp:lastModifiedBy>
  <cp:revision>1</cp:revision>
  <dcterms:created xsi:type="dcterms:W3CDTF">2026-10-04T09:07:48Z</dcterms:created>
  <dcterms:modified xsi:type="dcterms:W3CDTF">2026-10-04T09:07:48Z</dcterms:modified>
</cp:coreProperties>
</file>